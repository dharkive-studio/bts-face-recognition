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7" r:id="rId3"/>
    <p:sldId id="268" r:id="rId4"/>
    <p:sldId id="272" r:id="rId5"/>
    <p:sldId id="257" r:id="rId6"/>
    <p:sldId id="261" r:id="rId7"/>
    <p:sldId id="269" r:id="rId8"/>
    <p:sldId id="260" r:id="rId9"/>
    <p:sldId id="274" r:id="rId10"/>
    <p:sldId id="275" r:id="rId11"/>
    <p:sldId id="273" r:id="rId12"/>
    <p:sldId id="263" r:id="rId13"/>
    <p:sldId id="281" r:id="rId14"/>
    <p:sldId id="282" r:id="rId15"/>
    <p:sldId id="277" r:id="rId16"/>
    <p:sldId id="280" r:id="rId17"/>
    <p:sldId id="279" r:id="rId18"/>
    <p:sldId id="265" r:id="rId19"/>
    <p:sldId id="264"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01-03-2024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E22A40A-7AC8-42CF-9BEF-716456361048}" type="datetime1">
              <a:rPr lang="en-IN" smtClean="0"/>
              <a:t>01-03-2024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8F56DB-C515-4D59-BA31-96CDA4A4A0D9}" type="datetime1">
              <a:rPr lang="en-IN" smtClean="0"/>
              <a:t>01-03-2024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1B9E0E-8141-4053-9D33-9323C4C64632}" type="datetime1">
              <a:rPr lang="en-IN" smtClean="0"/>
              <a:t>01-03-2024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4A18D7D-B16B-460B-AD01-DCD49494CA3D}" type="datetime1">
              <a:rPr lang="en-IN" smtClean="0"/>
              <a:t>01-03-2024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0292A78-0C3D-4759-BF71-9ECFD3D35353}" type="datetime1">
              <a:rPr lang="en-IN" smtClean="0"/>
              <a:t>01-03-2024</a:t>
            </a:fld>
            <a:endParaRPr lang="en-IN"/>
          </a:p>
        </p:txBody>
      </p:sp>
      <p:sp>
        <p:nvSpPr>
          <p:cNvPr id="8" name="Footer Placeholder 7"/>
          <p:cNvSpPr>
            <a:spLocks noGrp="1"/>
          </p:cNvSpPr>
          <p:nvPr>
            <p:ph type="ftr" sz="quarter" idx="11"/>
          </p:nvPr>
        </p:nvSpPr>
        <p:spPr/>
        <p:txBody>
          <a:bodyPr/>
          <a:lstStyle/>
          <a:p>
            <a:r>
              <a:rPr lang="en-IN"/>
              <a:t>CS7501 Project 2 ,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868CD02-2456-484B-8393-AC776251CF95}" type="datetime1">
              <a:rPr lang="en-IN" smtClean="0"/>
              <a:t>01-03-2024</a:t>
            </a:fld>
            <a:endParaRPr lang="en-IN"/>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E74F5-AAB1-470A-A55B-9A7CE5D12E05}" type="datetime1">
              <a:rPr lang="en-IN" smtClean="0"/>
              <a:t>01-03-2024</a:t>
            </a:fld>
            <a:endParaRPr lang="en-IN"/>
          </a:p>
        </p:txBody>
      </p:sp>
      <p:sp>
        <p:nvSpPr>
          <p:cNvPr id="3" name="Footer Placeholder 2"/>
          <p:cNvSpPr>
            <a:spLocks noGrp="1"/>
          </p:cNvSpPr>
          <p:nvPr>
            <p:ph type="ftr" sz="quarter" idx="11"/>
          </p:nvPr>
        </p:nvSpPr>
        <p:spPr/>
        <p:txBody>
          <a:bodyPr/>
          <a:lstStyle/>
          <a:p>
            <a:r>
              <a:rPr lang="en-IN"/>
              <a:t>CS7501 Project 2 ,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9A1F7C9-295E-4D6F-B86A-3644E303BB31}" type="datetime1">
              <a:rPr lang="en-IN" smtClean="0"/>
              <a:t>01-03-2024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E33789F-14FA-46A1-AB7B-B9E567C4C708}" type="datetime1">
              <a:rPr lang="en-IN" smtClean="0"/>
              <a:t>01-03-2024</a:t>
            </a:fld>
            <a:endParaRPr lang="en-IN"/>
          </a:p>
        </p:txBody>
      </p:sp>
      <p:sp>
        <p:nvSpPr>
          <p:cNvPr id="6" name="Footer Placeholder 5"/>
          <p:cNvSpPr>
            <a:spLocks noGrp="1"/>
          </p:cNvSpPr>
          <p:nvPr>
            <p:ph type="ftr" sz="quarter" idx="11"/>
          </p:nvPr>
        </p:nvSpPr>
        <p:spPr/>
        <p:txBody>
          <a:bodyPr/>
          <a:lstStyle/>
          <a:p>
            <a:r>
              <a:rPr lang="en-IN"/>
              <a:t>CS7501 Project 2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C2971F6-5955-45C0-A7FE-779538743A90}" type="datetime1">
              <a:rPr lang="en-IN" smtClean="0"/>
              <a:t>01-03-2024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1EEC5A6-1770-4661-9873-D80C368AA063}" type="datetime1">
              <a:rPr lang="en-IN" smtClean="0"/>
              <a:t>01-03-2024</a:t>
            </a:fld>
            <a:endParaRPr lang="en-IN"/>
          </a:p>
        </p:txBody>
      </p:sp>
      <p:sp>
        <p:nvSpPr>
          <p:cNvPr id="5" name="Footer Placeholder 4"/>
          <p:cNvSpPr>
            <a:spLocks noGrp="1"/>
          </p:cNvSpPr>
          <p:nvPr>
            <p:ph type="ftr" sz="quarter" idx="11"/>
          </p:nvPr>
        </p:nvSpPr>
        <p:spPr/>
        <p:txBody>
          <a:bodyPr/>
          <a:lstStyle/>
          <a:p>
            <a:r>
              <a:rPr lang="en-IN"/>
              <a:t>CS7501 Project 2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69A726-769E-4A72-96AC-6065A5CC3F6D}" type="datetime1">
              <a:rPr lang="en-IN" smtClean="0"/>
              <a:t>01-03-2024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CS7501 Project 2 ,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doi.org/10.1186/s40708-023-00184-w" TargetMode="External"/><Relationship Id="rId3" Type="http://schemas.openxmlformats.org/officeDocument/2006/relationships/hyperlink" Target="https://arxiv.org/abs/2312.14001" TargetMode="External"/><Relationship Id="rId7" Type="http://schemas.openxmlformats.org/officeDocument/2006/relationships/hyperlink" Target="https://doi.org/10.3390/biomimetics9020100" TargetMode="External"/><Relationship Id="rId2" Type="http://schemas.openxmlformats.org/officeDocument/2006/relationships/hyperlink" Target="https://doi.org/10.1016/j.measen.2023.100800" TargetMode="External"/><Relationship Id="rId1" Type="http://schemas.openxmlformats.org/officeDocument/2006/relationships/slideLayout" Target="../slideLayouts/slideLayout2.xml"/><Relationship Id="rId6" Type="http://schemas.openxmlformats.org/officeDocument/2006/relationships/hyperlink" Target="https://doi.org/10.17485/IJST/v17i4.3018" TargetMode="External"/><Relationship Id="rId5" Type="http://schemas.openxmlformats.org/officeDocument/2006/relationships/hyperlink" Target="https://doi.org/10.47852/bonviewAIA32021018" TargetMode="External"/><Relationship Id="rId4" Type="http://schemas.openxmlformats.org/officeDocument/2006/relationships/hyperlink" Target="http://dx.doi.org/10.12785/ijcds/14016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29480"/>
            <a:ext cx="9144000" cy="4124194"/>
          </a:xfrm>
        </p:spPr>
        <p:txBody>
          <a:bodyPr>
            <a:normAutofit/>
          </a:bodyPr>
          <a:lstStyle/>
          <a:p>
            <a:r>
              <a:rPr lang="en-US" sz="4000" dirty="0">
                <a:latin typeface="Arial Narrow" panose="020B0606020202030204" pitchFamily="34" charset="0"/>
              </a:rPr>
              <a:t>Project Title : </a:t>
            </a:r>
            <a:r>
              <a:rPr lang="en-US" sz="4000" b="1" i="0" dirty="0">
                <a:solidFill>
                  <a:srgbClr val="222222"/>
                </a:solidFill>
                <a:effectLst/>
                <a:latin typeface="Arial Narrow" panose="020B0606020202030204" pitchFamily="34" charset="0"/>
              </a:rPr>
              <a:t>Implementing Deep Learning Models for Face Recognition</a:t>
            </a:r>
            <a:br>
              <a:rPr lang="en-US" sz="3600" b="1" i="0" dirty="0">
                <a:solidFill>
                  <a:srgbClr val="222222"/>
                </a:solidFill>
                <a:effectLst/>
                <a:latin typeface="Arial" panose="020B0604020202020204" pitchFamily="34" charset="0"/>
              </a:rPr>
            </a:br>
            <a:br>
              <a:rPr lang="en-US" sz="3600" dirty="0">
                <a:latin typeface="Arial Narrow" panose="020B0606020202030204" pitchFamily="34" charset="0"/>
              </a:rPr>
            </a:br>
            <a:r>
              <a:rPr lang="en-US" sz="3200" dirty="0">
                <a:latin typeface="Arial Narrow" panose="020B0606020202030204" pitchFamily="34" charset="0"/>
              </a:rPr>
              <a:t>Domain: </a:t>
            </a:r>
            <a:r>
              <a:rPr lang="en-US" sz="3200" b="1" dirty="0">
                <a:latin typeface="Arial Narrow" panose="020B0606020202030204" pitchFamily="34" charset="0"/>
              </a:rPr>
              <a:t>Pattern Recognition and Neural Networks</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Register Number:</a:t>
            </a:r>
            <a:r>
              <a:rPr lang="en-US" b="1" dirty="0">
                <a:latin typeface="Arial Narrow" panose="020B0606020202030204" pitchFamily="34" charset="0"/>
              </a:rPr>
              <a:t>23MSP3068</a:t>
            </a:r>
          </a:p>
          <a:p>
            <a:pPr algn="r"/>
            <a:r>
              <a:rPr lang="en-US" dirty="0">
                <a:latin typeface="Arial Narrow" panose="020B0606020202030204" pitchFamily="34" charset="0"/>
              </a:rPr>
              <a:t>Name: </a:t>
            </a:r>
            <a:r>
              <a:rPr lang="en-US" b="1" dirty="0">
                <a:latin typeface="Arial Narrow" panose="020B0606020202030204" pitchFamily="34" charset="0"/>
              </a:rPr>
              <a:t>Dharshani A</a:t>
            </a:r>
          </a:p>
          <a:p>
            <a:pPr algn="r"/>
            <a:r>
              <a:rPr lang="en-US" dirty="0">
                <a:latin typeface="Arial Narrow" panose="020B0606020202030204" pitchFamily="34" charset="0"/>
              </a:rPr>
              <a:t>Date: </a:t>
            </a:r>
            <a:r>
              <a:rPr lang="en-US" b="1" dirty="0">
                <a:latin typeface="Arial Narrow" panose="020B0606020202030204" pitchFamily="34" charset="0"/>
              </a:rPr>
              <a:t>01/03/2024</a:t>
            </a:r>
            <a:endParaRPr lang="en-IN" b="1"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Second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CS7510</a:t>
            </a:r>
          </a:p>
          <a:p>
            <a:r>
              <a:rPr lang="en-US" b="1" dirty="0">
                <a:latin typeface="Arial Narrow" panose="020B0606020202030204" pitchFamily="34" charset="0"/>
              </a:rPr>
              <a:t>Course Title:  </a:t>
            </a:r>
            <a:r>
              <a:rPr lang="en-US" dirty="0">
                <a:latin typeface="Arial Narrow" panose="020B0606020202030204" pitchFamily="34" charset="0"/>
              </a:rPr>
              <a:t>Project 2</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a:latin typeface="Arial Narrow" panose="020B0606020202030204" pitchFamily="34" charset="0"/>
              </a:rPr>
              <a:t>CS7501 Project 2 , PGP, ICER, VIT Bangalore</a:t>
            </a:r>
            <a:endParaRPr lang="en-IN" b="1" dirty="0">
              <a:latin typeface="Arial Narrow" panose="020B0606020202030204" pitchFamily="34" charset="0"/>
            </a:endParaRP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a:xfrm>
            <a:off x="203200" y="1229360"/>
            <a:ext cx="11785600" cy="5126990"/>
          </a:xfrm>
        </p:spPr>
        <p:txBody>
          <a:bodyPr>
            <a:normAutofit fontScale="92500" lnSpcReduction="10000"/>
          </a:bodyPr>
          <a:lstStyle/>
          <a:p>
            <a:pPr marL="0" indent="0">
              <a:buNone/>
            </a:pPr>
            <a:r>
              <a:rPr lang="en-US" dirty="0">
                <a:latin typeface="+mj-lt"/>
              </a:rPr>
              <a:t>Facial recognition technology holds immense promise for revolutionizing access control systems, offering a secure, keyless, and personalized approach to authentication. However, the widespread adoption of facial recognition systems in real-world applications like biometric building access has been hindered by challenges such as accuracy, speed, and susceptibility to spoofing attacks. In this project, we propose a comprehensive framework for developing a robust facial recognition system tailored for biometric access control. Leveraging convolutional neural networks (CNNs) and advanced techniques like Siamese networks, we aim to enhance accuracy, speed, and security in facial recognition. Our approach involves data collection, preprocessing, model training, and evaluation, with a focus on real-world applicability and scalability. By addressing these challenges, we seek to contribute to the advancement of access control systems, offering a secure and efficient solution for modern security needs.</a:t>
            </a:r>
          </a:p>
          <a:p>
            <a:pPr marL="0" indent="0">
              <a:buNone/>
            </a:pPr>
            <a:endParaRPr lang="en-US" dirty="0">
              <a:latin typeface="+mj-lt"/>
            </a:endParaRPr>
          </a:p>
          <a:p>
            <a:pPr marL="0" indent="0">
              <a:buNone/>
            </a:pPr>
            <a:r>
              <a:rPr lang="en-US" dirty="0">
                <a:latin typeface="+mj-lt"/>
              </a:rPr>
              <a:t>Keywords: Facial recognition, Access control systems, Biometrics, Convolutional neural networks, Siamese networks, Security, Authentication.</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a:xfrm>
            <a:off x="457200" y="1229360"/>
            <a:ext cx="11247120" cy="5126989"/>
          </a:xfrm>
        </p:spPr>
        <p:txBody>
          <a:bodyPr>
            <a:normAutofit fontScale="77500" lnSpcReduction="20000"/>
          </a:bodyPr>
          <a:lstStyle/>
          <a:p>
            <a:pPr algn="just">
              <a:buFont typeface="Wingdings" panose="05000000000000000000" pitchFamily="2" charset="2"/>
              <a:buChar char="§"/>
            </a:pPr>
            <a:r>
              <a:rPr lang="en-US" dirty="0">
                <a:latin typeface="+mj-lt"/>
              </a:rPr>
              <a:t>In the realm of access control systems, the quest for secure, efficient, and user-friendly solutions continues to drive innovation. </a:t>
            </a:r>
          </a:p>
          <a:p>
            <a:pPr algn="just">
              <a:buFont typeface="Wingdings" panose="05000000000000000000" pitchFamily="2" charset="2"/>
              <a:buChar char="§"/>
            </a:pPr>
            <a:r>
              <a:rPr lang="en-US" dirty="0">
                <a:latin typeface="+mj-lt"/>
              </a:rPr>
              <a:t>Traditional methods, such as keycards and PIN codes, while prevalent, are not without their limitations, often susceptible to theft, loss, or unauthorized duplication. </a:t>
            </a:r>
          </a:p>
          <a:p>
            <a:pPr algn="just">
              <a:buFont typeface="Wingdings" panose="05000000000000000000" pitchFamily="2" charset="2"/>
              <a:buChar char="§"/>
            </a:pPr>
            <a:r>
              <a:rPr lang="en-US" dirty="0">
                <a:latin typeface="+mj-lt"/>
              </a:rPr>
              <a:t>Biometric alternatives, particularly facial recognition technology, offer a promising avenue for overcoming these challenges. </a:t>
            </a:r>
          </a:p>
          <a:p>
            <a:pPr algn="just">
              <a:buFont typeface="Wingdings" panose="05000000000000000000" pitchFamily="2" charset="2"/>
              <a:buChar char="§"/>
            </a:pPr>
            <a:r>
              <a:rPr lang="en-US" dirty="0">
                <a:latin typeface="+mj-lt"/>
              </a:rPr>
              <a:t>However, the widespread adoption of facial recognition systems has been hindered by their limited performance in diverse environmental conditions and susceptibility to spoofing attacks. </a:t>
            </a:r>
          </a:p>
          <a:p>
            <a:pPr algn="just">
              <a:buFont typeface="Wingdings" panose="05000000000000000000" pitchFamily="2" charset="2"/>
              <a:buChar char="§"/>
            </a:pPr>
            <a:r>
              <a:rPr lang="en-US" dirty="0">
                <a:latin typeface="+mj-lt"/>
              </a:rPr>
              <a:t>To address these issues, this project seeks to develop a robust facial recognition system tailored for biometric building access. </a:t>
            </a:r>
          </a:p>
          <a:p>
            <a:pPr algn="just">
              <a:buFont typeface="Wingdings" panose="05000000000000000000" pitchFamily="2" charset="2"/>
              <a:buChar char="§"/>
            </a:pPr>
            <a:r>
              <a:rPr lang="en-US" dirty="0">
                <a:latin typeface="+mj-lt"/>
              </a:rPr>
              <a:t>By leveraging convolutional neural networks (CNNs) and exploring advanced techniques like Siamese networks, we aim to enhance accuracy, speed, and security in facial recognition. </a:t>
            </a:r>
          </a:p>
          <a:p>
            <a:pPr algn="just">
              <a:buFont typeface="Wingdings" panose="05000000000000000000" pitchFamily="2" charset="2"/>
              <a:buChar char="§"/>
            </a:pPr>
            <a:r>
              <a:rPr lang="en-US" dirty="0">
                <a:latin typeface="+mj-lt"/>
              </a:rPr>
              <a:t>Our approach involves comprehensive data collection, preprocessing, model training, and evaluation, with a focus on real-world applicability and scalability. </a:t>
            </a:r>
          </a:p>
          <a:p>
            <a:pPr algn="just">
              <a:buFont typeface="Wingdings" panose="05000000000000000000" pitchFamily="2" charset="2"/>
              <a:buChar char="§"/>
            </a:pPr>
            <a:r>
              <a:rPr lang="en-US" dirty="0">
                <a:latin typeface="+mj-lt"/>
              </a:rPr>
              <a:t>Through this endeavor, we anticipate making significant contributions to the field of access control systems, offering an innovative solution that addresses key challenges and paves the way for enhanced security and convenience in various domains.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Need of study</a:t>
            </a:r>
            <a:endParaRPr lang="en-IN" b="1" dirty="0">
              <a:latin typeface="Arial Narrow" panose="020B0606020202030204" pitchFamily="34" charset="0"/>
            </a:endParaRPr>
          </a:p>
        </p:txBody>
      </p:sp>
      <p:sp>
        <p:nvSpPr>
          <p:cNvPr id="3" name="Content Placeholder 2"/>
          <p:cNvSpPr>
            <a:spLocks noGrp="1"/>
          </p:cNvSpPr>
          <p:nvPr>
            <p:ph idx="1"/>
          </p:nvPr>
        </p:nvSpPr>
        <p:spPr>
          <a:xfrm>
            <a:off x="426720" y="1343818"/>
            <a:ext cx="11338560" cy="5334000"/>
          </a:xfrm>
        </p:spPr>
        <p:txBody>
          <a:bodyPr/>
          <a:lstStyle/>
          <a:p>
            <a:pPr marL="0" indent="0">
              <a:buNone/>
            </a:pPr>
            <a:r>
              <a:rPr lang="en-US" dirty="0">
                <a:latin typeface="+mj-lt"/>
              </a:rPr>
              <a:t>1. Ensure accurate recognition across varied conditions (e.g., lighting, appearance changes) for reliable access control.</a:t>
            </a:r>
          </a:p>
          <a:p>
            <a:pPr marL="0" indent="0">
              <a:buNone/>
            </a:pPr>
            <a:r>
              <a:rPr lang="en-US" dirty="0">
                <a:latin typeface="+mj-lt"/>
              </a:rPr>
              <a:t>2. Develop rapid and efficient recognition methods to minimize entry delays and enhance user experience.</a:t>
            </a:r>
          </a:p>
          <a:p>
            <a:pPr marL="0" indent="0">
              <a:buNone/>
            </a:pPr>
            <a:r>
              <a:rPr lang="en-US" dirty="0">
                <a:latin typeface="+mj-lt"/>
              </a:rPr>
              <a:t>3. Implement robust security measures to counter spoofing attempts, safeguarding against unauthorized access.</a:t>
            </a:r>
          </a:p>
          <a:p>
            <a:pPr marL="0" indent="0">
              <a:buNone/>
            </a:pPr>
            <a:r>
              <a:rPr lang="en-US" dirty="0">
                <a:latin typeface="+mj-lt"/>
              </a:rPr>
              <a:t>4. Address privacy concerns by prioritizing data protection and ensuring user consent in facial recognition systems.</a:t>
            </a:r>
          </a:p>
          <a:p>
            <a:pPr marL="0" indent="0">
              <a:buNone/>
            </a:pPr>
            <a:r>
              <a:rPr lang="en-US" dirty="0">
                <a:latin typeface="+mj-lt"/>
              </a:rPr>
              <a:t>5. Facilitate seamless integration with existing access control infrastructure for easy adoption and scalability.</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a:xfrm>
            <a:off x="284480" y="1325562"/>
            <a:ext cx="11765280" cy="5030787"/>
          </a:xfrm>
        </p:spPr>
        <p:txBody>
          <a:bodyPr/>
          <a:lstStyle/>
          <a:p>
            <a:r>
              <a:rPr lang="en-US" dirty="0">
                <a:latin typeface="+mj-lt"/>
              </a:rPr>
              <a:t>Modern urban settings require secure, efficient, and non-intrusive access control systems.</a:t>
            </a:r>
          </a:p>
          <a:p>
            <a:r>
              <a:rPr lang="en-US" dirty="0">
                <a:latin typeface="+mj-lt"/>
              </a:rPr>
              <a:t>Traditional access methods like keys, cards, and PINs can be lost, stolen, or forgotten, compromising security and convenience.</a:t>
            </a:r>
          </a:p>
          <a:p>
            <a:r>
              <a:rPr lang="en-US" dirty="0">
                <a:latin typeface="+mj-lt"/>
              </a:rPr>
              <a:t>Facial recognition offers a promising keyless and personalized alternative for access control.</a:t>
            </a:r>
          </a:p>
          <a:p>
            <a:r>
              <a:rPr lang="en-US" dirty="0">
                <a:latin typeface="+mj-lt"/>
              </a:rPr>
              <a:t>Achieving consistent accuracy and reliability in varied conditions (lighting, angles, facial changes) is a significant challenge.</a:t>
            </a:r>
          </a:p>
          <a:p>
            <a:r>
              <a:rPr lang="en-US" dirty="0">
                <a:latin typeface="+mj-lt"/>
              </a:rPr>
              <a:t>The project aims to develop a facial recognition system for building access, focusing on enhanced accuracy, speed, and robustness against environmental variations and spoofing attempts.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Objectives</a:t>
            </a:r>
            <a:endParaRPr lang="en-IN" b="1" dirty="0">
              <a:latin typeface="Arial Narrow" panose="020B0606020202030204" pitchFamily="34" charset="0"/>
            </a:endParaRPr>
          </a:p>
        </p:txBody>
      </p:sp>
      <p:sp>
        <p:nvSpPr>
          <p:cNvPr id="3" name="Content Placeholder 2"/>
          <p:cNvSpPr>
            <a:spLocks noGrp="1"/>
          </p:cNvSpPr>
          <p:nvPr>
            <p:ph idx="1"/>
          </p:nvPr>
        </p:nvSpPr>
        <p:spPr>
          <a:xfrm>
            <a:off x="441960" y="1624966"/>
            <a:ext cx="11308080" cy="5096509"/>
          </a:xfrm>
        </p:spPr>
        <p:txBody>
          <a:bodyPr>
            <a:normAutofit/>
          </a:bodyPr>
          <a:lstStyle/>
          <a:p>
            <a:r>
              <a:rPr lang="en-US" dirty="0">
                <a:latin typeface="+mj-lt"/>
              </a:rPr>
              <a:t>To explore techniques for improved facial feature differentiation.</a:t>
            </a:r>
          </a:p>
          <a:p>
            <a:r>
              <a:rPr lang="en-US" dirty="0">
                <a:latin typeface="+mj-lt"/>
              </a:rPr>
              <a:t>To develop a CNN model for accurate recognition of BTS members.</a:t>
            </a:r>
          </a:p>
          <a:p>
            <a:r>
              <a:rPr lang="en-US" dirty="0">
                <a:latin typeface="+mj-lt"/>
              </a:rPr>
              <a:t>To implement preprocessing and augmentation for enhanced performance.</a:t>
            </a:r>
          </a:p>
          <a:p>
            <a:r>
              <a:rPr lang="en-US" dirty="0">
                <a:latin typeface="+mj-lt"/>
              </a:rPr>
              <a:t>To evaluate model accuracy and reliability on test datasets.</a:t>
            </a:r>
          </a:p>
          <a:p>
            <a:r>
              <a:rPr lang="en-US" dirty="0">
                <a:latin typeface="+mj-lt"/>
              </a:rPr>
              <a:t>To prepare for Siamese network integration to learn fine-grained facial features.</a:t>
            </a:r>
          </a:p>
          <a:p>
            <a:r>
              <a:rPr lang="en-US" dirty="0">
                <a:latin typeface="+mj-lt"/>
              </a:rPr>
              <a:t>To ensure scalability and compatibility with existing security infrastructure.</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93572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3" name="Content Placeholder 2"/>
          <p:cNvSpPr>
            <a:spLocks noGrp="1"/>
          </p:cNvSpPr>
          <p:nvPr>
            <p:ph idx="1"/>
          </p:nvPr>
        </p:nvSpPr>
        <p:spPr>
          <a:xfrm>
            <a:off x="406400" y="1325564"/>
            <a:ext cx="11643360" cy="5030786"/>
          </a:xfrm>
        </p:spPr>
        <p:txBody>
          <a:bodyPr>
            <a:normAutofit/>
          </a:bodyPr>
          <a:lstStyle/>
          <a:p>
            <a:pPr algn="just"/>
            <a:r>
              <a:rPr lang="en-US" dirty="0">
                <a:latin typeface="+mj-lt"/>
              </a:rPr>
              <a:t>Research explores Siamese neural networks for face recognition and kinship verification.</a:t>
            </a:r>
          </a:p>
          <a:p>
            <a:pPr algn="just"/>
            <a:r>
              <a:rPr lang="en-US" dirty="0">
                <a:latin typeface="+mj-lt"/>
              </a:rPr>
              <a:t>Transfer learning, </a:t>
            </a:r>
            <a:r>
              <a:rPr lang="en-US" dirty="0" err="1">
                <a:latin typeface="+mj-lt"/>
              </a:rPr>
              <a:t>ResNet</a:t>
            </a:r>
            <a:r>
              <a:rPr lang="en-US" dirty="0">
                <a:latin typeface="+mj-lt"/>
              </a:rPr>
              <a:t>, and </a:t>
            </a:r>
            <a:r>
              <a:rPr lang="en-US" dirty="0" err="1">
                <a:latin typeface="+mj-lt"/>
              </a:rPr>
              <a:t>VGGNet</a:t>
            </a:r>
            <a:r>
              <a:rPr lang="en-US" dirty="0">
                <a:latin typeface="+mj-lt"/>
              </a:rPr>
              <a:t> architectures are key techniques utilized.</a:t>
            </a:r>
          </a:p>
          <a:p>
            <a:pPr algn="just"/>
            <a:r>
              <a:rPr lang="en-US" dirty="0">
                <a:latin typeface="+mj-lt"/>
              </a:rPr>
              <a:t>These studies highlight the networks' versatility in biometric verification and security enhancement.</a:t>
            </a:r>
          </a:p>
          <a:p>
            <a:pPr algn="just"/>
            <a:r>
              <a:rPr lang="en-US" dirty="0">
                <a:latin typeface="+mj-lt"/>
              </a:rPr>
              <a:t>The collective progress indicates a unified approach towards addressing complex biometric and deep learning challenges.</a:t>
            </a:r>
          </a:p>
          <a:p>
            <a:pPr algn="just"/>
            <a:r>
              <a:rPr lang="en-US" dirty="0">
                <a:latin typeface="+mj-lt"/>
              </a:rPr>
              <a:t>Each piece of research contributes to advancing identification methods and relationship analysis, facilitating security and social analytical applications.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spTree>
    <p:extLst>
      <p:ext uri="{BB962C8B-B14F-4D97-AF65-F5344CB8AC3E}">
        <p14:creationId xmlns:p14="http://schemas.microsoft.com/office/powerpoint/2010/main" val="130640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133"/>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8</a:t>
            </a:fld>
            <a:endParaRPr lang="en-IN"/>
          </a:p>
        </p:txBody>
      </p:sp>
      <p:pic>
        <p:nvPicPr>
          <p:cNvPr id="7" name="Picture 6">
            <a:extLst>
              <a:ext uri="{FF2B5EF4-FFF2-40B4-BE49-F238E27FC236}">
                <a16:creationId xmlns:a16="http://schemas.microsoft.com/office/drawing/2014/main" id="{CBB605EE-E0B6-7C7C-72BD-0BD26043CB36}"/>
              </a:ext>
            </a:extLst>
          </p:cNvPr>
          <p:cNvPicPr>
            <a:picLocks noChangeAspect="1"/>
          </p:cNvPicPr>
          <p:nvPr/>
        </p:nvPicPr>
        <p:blipFill>
          <a:blip r:embed="rId2"/>
          <a:stretch>
            <a:fillRect/>
          </a:stretch>
        </p:blipFill>
        <p:spPr>
          <a:xfrm>
            <a:off x="1602993" y="815945"/>
            <a:ext cx="8986014" cy="5540405"/>
          </a:xfrm>
          <a:prstGeom prst="rect">
            <a:avLst/>
          </a:prstGeom>
        </p:spPr>
      </p:pic>
    </p:spTree>
    <p:extLst>
      <p:ext uri="{BB962C8B-B14F-4D97-AF65-F5344CB8AC3E}">
        <p14:creationId xmlns:p14="http://schemas.microsoft.com/office/powerpoint/2010/main" val="1125428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41D424-21F1-FBE2-81D9-93A1F15C9C08}"/>
              </a:ext>
            </a:extLst>
          </p:cNvPr>
          <p:cNvSpPr>
            <a:spLocks noGrp="1"/>
          </p:cNvSpPr>
          <p:nvPr>
            <p:ph idx="1"/>
          </p:nvPr>
        </p:nvSpPr>
        <p:spPr>
          <a:xfrm>
            <a:off x="233680" y="1022032"/>
            <a:ext cx="11724640" cy="5516880"/>
          </a:xfrm>
        </p:spPr>
        <p:txBody>
          <a:bodyPr>
            <a:normAutofit fontScale="62500" lnSpcReduction="20000"/>
          </a:bodyPr>
          <a:lstStyle/>
          <a:p>
            <a:pPr marL="0" indent="0" algn="l">
              <a:buNone/>
            </a:pPr>
            <a:r>
              <a:rPr lang="en-US" b="1" i="0" dirty="0">
                <a:effectLst/>
                <a:latin typeface="+mj-lt"/>
              </a:rPr>
              <a:t>Problem Identification:</a:t>
            </a:r>
          </a:p>
          <a:p>
            <a:pPr marL="0" indent="0" algn="l">
              <a:buNone/>
            </a:pPr>
            <a:r>
              <a:rPr lang="en-US" i="0" dirty="0">
                <a:effectLst/>
                <a:latin typeface="+mj-lt"/>
              </a:rPr>
              <a:t>Identify challenges in facial recognition, including lighting, angle, and expression variations. Define research goals to address these challenges.</a:t>
            </a:r>
          </a:p>
          <a:p>
            <a:pPr marL="0" indent="0" algn="l">
              <a:buNone/>
            </a:pPr>
            <a:endParaRPr lang="en-US" i="0" dirty="0">
              <a:effectLst/>
              <a:latin typeface="+mj-lt"/>
            </a:endParaRPr>
          </a:p>
          <a:p>
            <a:pPr marL="0" indent="0" algn="l">
              <a:buNone/>
            </a:pPr>
            <a:r>
              <a:rPr lang="en-US" b="1" i="0" dirty="0">
                <a:effectLst/>
                <a:latin typeface="+mj-lt"/>
              </a:rPr>
              <a:t>Data Collection:</a:t>
            </a:r>
          </a:p>
          <a:p>
            <a:pPr marL="0" indent="0" algn="l">
              <a:buNone/>
            </a:pPr>
            <a:r>
              <a:rPr lang="en-US" i="0" dirty="0">
                <a:effectLst/>
                <a:latin typeface="+mj-lt"/>
              </a:rPr>
              <a:t>Collect a diverse dataset of facial images from various sources to ensure variability in lighting, angles, and expressions. Ensure the dataset represents real-world scenarios.</a:t>
            </a:r>
          </a:p>
          <a:p>
            <a:pPr marL="0" indent="0" algn="l">
              <a:buNone/>
            </a:pPr>
            <a:endParaRPr lang="en-US" i="0" dirty="0">
              <a:effectLst/>
              <a:latin typeface="+mj-lt"/>
            </a:endParaRPr>
          </a:p>
          <a:p>
            <a:pPr marL="0" indent="0" algn="l">
              <a:buNone/>
            </a:pPr>
            <a:r>
              <a:rPr lang="en-US" b="1" i="0" dirty="0">
                <a:effectLst/>
                <a:latin typeface="+mj-lt"/>
              </a:rPr>
              <a:t>Data Preprocessing:</a:t>
            </a:r>
          </a:p>
          <a:p>
            <a:pPr marL="0" indent="0" algn="l">
              <a:buNone/>
            </a:pPr>
            <a:r>
              <a:rPr lang="en-US" i="0" dirty="0">
                <a:effectLst/>
                <a:latin typeface="+mj-lt"/>
              </a:rPr>
              <a:t>Implement preprocessing steps like normalization, resizing, and augmentation to standardize input data. These steps enhance model training effectiveness and robustness to variations.</a:t>
            </a:r>
          </a:p>
          <a:p>
            <a:pPr marL="0" indent="0" algn="l">
              <a:buNone/>
            </a:pPr>
            <a:endParaRPr lang="en-US" i="0" dirty="0">
              <a:effectLst/>
              <a:latin typeface="+mj-lt"/>
            </a:endParaRPr>
          </a:p>
          <a:p>
            <a:pPr marL="0" indent="0" algn="l">
              <a:buNone/>
            </a:pPr>
            <a:r>
              <a:rPr lang="en-US" b="1" i="0" dirty="0">
                <a:effectLst/>
                <a:latin typeface="+mj-lt"/>
              </a:rPr>
              <a:t>Dataset Splitting:</a:t>
            </a:r>
          </a:p>
          <a:p>
            <a:pPr marL="0" indent="0" algn="l">
              <a:buNone/>
            </a:pPr>
            <a:r>
              <a:rPr lang="en-US" i="0" dirty="0">
                <a:effectLst/>
                <a:latin typeface="+mj-lt"/>
              </a:rPr>
              <a:t>Divide collected data into training, validation, and test sets. This ensures proper evaluation and prevents overfitting during model training.</a:t>
            </a:r>
          </a:p>
          <a:p>
            <a:pPr marL="0" indent="0" algn="l">
              <a:buNone/>
            </a:pPr>
            <a:endParaRPr lang="en-US" i="0" dirty="0">
              <a:effectLst/>
              <a:latin typeface="+mj-lt"/>
            </a:endParaRPr>
          </a:p>
          <a:p>
            <a:pPr marL="0" indent="0" algn="l">
              <a:buNone/>
            </a:pPr>
            <a:r>
              <a:rPr lang="en-US" b="1" i="0" dirty="0">
                <a:effectLst/>
                <a:latin typeface="+mj-lt"/>
              </a:rPr>
              <a:t>CNN Architecture Design:</a:t>
            </a:r>
          </a:p>
          <a:p>
            <a:pPr marL="0" indent="0" algn="l">
              <a:buNone/>
            </a:pPr>
            <a:r>
              <a:rPr lang="en-US" i="0" dirty="0">
                <a:effectLst/>
                <a:latin typeface="+mj-lt"/>
              </a:rPr>
              <a:t>Design a Convolutional Neural Network (CNN) tailored for facial feature extraction. Experiment with different architectures to optimize performance.</a:t>
            </a: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endParaRPr lang="en-IN" dirty="0"/>
          </a:p>
        </p:txBody>
      </p:sp>
      <p:sp>
        <p:nvSpPr>
          <p:cNvPr id="4" name="Footer Placeholder 3">
            <a:extLst>
              <a:ext uri="{FF2B5EF4-FFF2-40B4-BE49-F238E27FC236}">
                <a16:creationId xmlns:a16="http://schemas.microsoft.com/office/drawing/2014/main" id="{FD814F61-6363-EF0E-07D6-03A48E5EEA0F}"/>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989AC4D1-8439-C258-F638-01F6D56B4490}"/>
              </a:ext>
            </a:extLst>
          </p:cNvPr>
          <p:cNvSpPr>
            <a:spLocks noGrp="1"/>
          </p:cNvSpPr>
          <p:nvPr>
            <p:ph type="sldNum" sz="quarter" idx="12"/>
          </p:nvPr>
        </p:nvSpPr>
        <p:spPr/>
        <p:txBody>
          <a:bodyPr/>
          <a:lstStyle/>
          <a:p>
            <a:fld id="{90EDC104-672A-4227-99C4-0E2CC007FDBA}" type="slidenum">
              <a:rPr lang="en-IN" smtClean="0"/>
              <a:t>9</a:t>
            </a:fld>
            <a:endParaRPr lang="en-IN"/>
          </a:p>
        </p:txBody>
      </p:sp>
      <p:sp>
        <p:nvSpPr>
          <p:cNvPr id="6" name="Title 1"/>
          <p:cNvSpPr>
            <a:spLocks noGrp="1"/>
          </p:cNvSpPr>
          <p:nvPr>
            <p:ph type="title"/>
          </p:nvPr>
        </p:nvSpPr>
        <p:spPr>
          <a:xfrm>
            <a:off x="838200" y="-161133"/>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Tree>
    <p:extLst>
      <p:ext uri="{BB962C8B-B14F-4D97-AF65-F5344CB8AC3E}">
        <p14:creationId xmlns:p14="http://schemas.microsoft.com/office/powerpoint/2010/main" val="1903929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12CFC-18AC-D1DC-70F6-E85DE017EB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5F9A20-7314-010A-11E7-B1577B8F8B98}"/>
              </a:ext>
            </a:extLst>
          </p:cNvPr>
          <p:cNvSpPr>
            <a:spLocks noGrp="1"/>
          </p:cNvSpPr>
          <p:nvPr>
            <p:ph idx="1"/>
          </p:nvPr>
        </p:nvSpPr>
        <p:spPr>
          <a:xfrm>
            <a:off x="233680" y="1351280"/>
            <a:ext cx="11724640" cy="4399280"/>
          </a:xfrm>
        </p:spPr>
        <p:txBody>
          <a:bodyPr>
            <a:normAutofit fontScale="62500" lnSpcReduction="20000"/>
          </a:bodyPr>
          <a:lstStyle/>
          <a:p>
            <a:pPr marL="0" indent="0" algn="l">
              <a:buNone/>
            </a:pPr>
            <a:r>
              <a:rPr lang="en-US" b="1" i="0" dirty="0">
                <a:effectLst/>
                <a:latin typeface="+mj-lt"/>
              </a:rPr>
              <a:t>Training and Evaluation:</a:t>
            </a:r>
          </a:p>
          <a:p>
            <a:pPr marL="0" indent="0" algn="l">
              <a:buNone/>
            </a:pPr>
            <a:r>
              <a:rPr lang="en-US" i="0" dirty="0">
                <a:effectLst/>
                <a:latin typeface="+mj-lt"/>
              </a:rPr>
              <a:t>Train the CNN model using the training data and evaluate its performance on the validation set. Adjust hyperparameters and model architecture as needed for better results.</a:t>
            </a:r>
          </a:p>
          <a:p>
            <a:pPr marL="0" indent="0" algn="l">
              <a:buNone/>
            </a:pPr>
            <a:endParaRPr lang="en-US" i="0" dirty="0">
              <a:effectLst/>
              <a:latin typeface="+mj-lt"/>
            </a:endParaRPr>
          </a:p>
          <a:p>
            <a:pPr marL="0" indent="0" algn="l">
              <a:buNone/>
            </a:pPr>
            <a:r>
              <a:rPr lang="en-US" b="1" i="0" dirty="0">
                <a:effectLst/>
                <a:latin typeface="+mj-lt"/>
              </a:rPr>
              <a:t>Model Refinement:</a:t>
            </a:r>
          </a:p>
          <a:p>
            <a:pPr marL="0" indent="0" algn="l">
              <a:buNone/>
            </a:pPr>
            <a:r>
              <a:rPr lang="en-US" i="0" dirty="0">
                <a:effectLst/>
                <a:latin typeface="+mj-lt"/>
              </a:rPr>
              <a:t>Optimize the CNN model based on evaluation results. Fine-tune parameters and layers to improve accuracy and generalization.</a:t>
            </a:r>
          </a:p>
          <a:p>
            <a:pPr marL="0" indent="0" algn="l">
              <a:buNone/>
            </a:pPr>
            <a:endParaRPr lang="en-US" i="0" dirty="0">
              <a:effectLst/>
              <a:latin typeface="+mj-lt"/>
            </a:endParaRPr>
          </a:p>
          <a:p>
            <a:pPr marL="0" indent="0" algn="l">
              <a:buNone/>
            </a:pPr>
            <a:r>
              <a:rPr lang="en-US" b="1" i="0" dirty="0">
                <a:effectLst/>
                <a:latin typeface="+mj-lt"/>
              </a:rPr>
              <a:t>Siamese Network Integration:</a:t>
            </a:r>
          </a:p>
          <a:p>
            <a:pPr marL="0" indent="0" algn="l">
              <a:buNone/>
            </a:pPr>
            <a:r>
              <a:rPr lang="en-US" i="0" dirty="0">
                <a:effectLst/>
                <a:latin typeface="+mj-lt"/>
              </a:rPr>
              <a:t>Integrate a Siamese network architecture to capture fine-grained differences between facial features. Test the integrated model and compare performance with the CNN.</a:t>
            </a:r>
          </a:p>
          <a:p>
            <a:pPr marL="0" indent="0" algn="l">
              <a:buNone/>
            </a:pPr>
            <a:endParaRPr lang="en-US" i="0" dirty="0">
              <a:effectLst/>
              <a:latin typeface="+mj-lt"/>
            </a:endParaRPr>
          </a:p>
          <a:p>
            <a:pPr marL="0" indent="0" algn="l">
              <a:buNone/>
            </a:pPr>
            <a:r>
              <a:rPr lang="en-US" b="1" i="0" dirty="0">
                <a:effectLst/>
                <a:latin typeface="+mj-lt"/>
              </a:rPr>
              <a:t>Deployment &amp; Feedback:</a:t>
            </a:r>
          </a:p>
          <a:p>
            <a:pPr marL="0" indent="0" algn="l">
              <a:buNone/>
            </a:pPr>
            <a:r>
              <a:rPr lang="en-US" i="0" dirty="0">
                <a:effectLst/>
                <a:latin typeface="+mj-lt"/>
              </a:rPr>
              <a:t>Deploy the facial recognition solution in real-world scenarios, such as biometric access control systems. Gather user feedback for further improvements and iterations.</a:t>
            </a:r>
          </a:p>
          <a:p>
            <a:pPr marL="0" indent="0" algn="l">
              <a:buNone/>
            </a:pPr>
            <a:endParaRPr lang="en-US" b="1" i="0" dirty="0">
              <a:effectLst/>
              <a:latin typeface="Söhne"/>
            </a:endParaRPr>
          </a:p>
          <a:p>
            <a:pPr algn="l">
              <a:buFont typeface="+mj-lt"/>
              <a:buAutoNum type="arabicPeriod"/>
            </a:pPr>
            <a:endParaRPr lang="en-US" b="1" i="0" dirty="0">
              <a:effectLst/>
              <a:latin typeface="Söhne"/>
            </a:endParaRPr>
          </a:p>
          <a:p>
            <a:pPr algn="l">
              <a:buFont typeface="+mj-lt"/>
              <a:buAutoNum type="arabicPeriod"/>
            </a:pPr>
            <a:endParaRPr lang="en-US" b="1" i="0" dirty="0">
              <a:effectLst/>
              <a:latin typeface="Söhne"/>
            </a:endParaRPr>
          </a:p>
          <a:p>
            <a:endParaRPr lang="en-IN" dirty="0"/>
          </a:p>
        </p:txBody>
      </p:sp>
      <p:sp>
        <p:nvSpPr>
          <p:cNvPr id="4" name="Footer Placeholder 3">
            <a:extLst>
              <a:ext uri="{FF2B5EF4-FFF2-40B4-BE49-F238E27FC236}">
                <a16:creationId xmlns:a16="http://schemas.microsoft.com/office/drawing/2014/main" id="{2654CA19-37C9-6979-EE98-FB226F10A47A}"/>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6BFE50E8-8CD4-4A46-536F-F827105C27DF}"/>
              </a:ext>
            </a:extLst>
          </p:cNvPr>
          <p:cNvSpPr>
            <a:spLocks noGrp="1"/>
          </p:cNvSpPr>
          <p:nvPr>
            <p:ph type="sldNum" sz="quarter" idx="12"/>
          </p:nvPr>
        </p:nvSpPr>
        <p:spPr/>
        <p:txBody>
          <a:bodyPr/>
          <a:lstStyle/>
          <a:p>
            <a:fld id="{90EDC104-672A-4227-99C4-0E2CC007FDBA}" type="slidenum">
              <a:rPr lang="en-IN" smtClean="0"/>
              <a:t>10</a:t>
            </a:fld>
            <a:endParaRPr lang="en-IN"/>
          </a:p>
        </p:txBody>
      </p:sp>
      <p:sp>
        <p:nvSpPr>
          <p:cNvPr id="6" name="Title 1">
            <a:extLst>
              <a:ext uri="{FF2B5EF4-FFF2-40B4-BE49-F238E27FC236}">
                <a16:creationId xmlns:a16="http://schemas.microsoft.com/office/drawing/2014/main" id="{C6B8D818-3ACD-A293-DD4C-B6B2E951C6B7}"/>
              </a:ext>
            </a:extLst>
          </p:cNvPr>
          <p:cNvSpPr>
            <a:spLocks noGrp="1"/>
          </p:cNvSpPr>
          <p:nvPr>
            <p:ph type="title"/>
          </p:nvPr>
        </p:nvSpPr>
        <p:spPr>
          <a:xfrm>
            <a:off x="838200" y="-161133"/>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Tree>
    <p:extLst>
      <p:ext uri="{BB962C8B-B14F-4D97-AF65-F5344CB8AC3E}">
        <p14:creationId xmlns:p14="http://schemas.microsoft.com/office/powerpoint/2010/main" val="1687846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442720"/>
            <a:ext cx="10515600" cy="4734243"/>
          </a:xfrm>
        </p:spPr>
        <p:txBody>
          <a:bodyPr>
            <a:normAutofit/>
          </a:bodyPr>
          <a:lstStyle/>
          <a:p>
            <a:r>
              <a:rPr lang="en-US" sz="3200" dirty="0">
                <a:latin typeface="+mj-lt"/>
              </a:rPr>
              <a:t>Source of the Dataset: @bts.bighitofficial on Instagram</a:t>
            </a:r>
          </a:p>
          <a:p>
            <a:r>
              <a:rPr lang="en-US" sz="3200" dirty="0">
                <a:latin typeface="+mj-lt"/>
              </a:rPr>
              <a:t>No. of Observations: 50 images * 7 members</a:t>
            </a:r>
          </a:p>
          <a:p>
            <a:r>
              <a:rPr lang="en-US" sz="3200" dirty="0">
                <a:latin typeface="+mj-lt"/>
              </a:rPr>
              <a:t>Total Observations after Augmentation: 16800 = 50*7*24*2</a:t>
            </a:r>
          </a:p>
        </p:txBody>
      </p:sp>
      <p:sp>
        <p:nvSpPr>
          <p:cNvPr id="5" name="Slide Number Placeholder 4"/>
          <p:cNvSpPr>
            <a:spLocks noGrp="1"/>
          </p:cNvSpPr>
          <p:nvPr>
            <p:ph type="sldNum" sz="quarter" idx="12"/>
          </p:nvPr>
        </p:nvSpPr>
        <p:spPr/>
        <p:txBody>
          <a:bodyPr/>
          <a:lstStyle/>
          <a:p>
            <a:fld id="{90EDC104-672A-4227-99C4-0E2CC007FDBA}" type="slidenum">
              <a:rPr lang="en-IN" smtClean="0"/>
              <a:t>11</a:t>
            </a:fld>
            <a:endParaRPr lang="en-IN" dirty="0"/>
          </a:p>
        </p:txBody>
      </p:sp>
      <p:pic>
        <p:nvPicPr>
          <p:cNvPr id="7" name="Picture 6">
            <a:extLst>
              <a:ext uri="{FF2B5EF4-FFF2-40B4-BE49-F238E27FC236}">
                <a16:creationId xmlns:a16="http://schemas.microsoft.com/office/drawing/2014/main" id="{D93AE114-EBBD-186E-77E0-71663A8CB759}"/>
              </a:ext>
            </a:extLst>
          </p:cNvPr>
          <p:cNvPicPr>
            <a:picLocks noChangeAspect="1"/>
          </p:cNvPicPr>
          <p:nvPr/>
        </p:nvPicPr>
        <p:blipFill>
          <a:blip r:embed="rId2"/>
          <a:stretch>
            <a:fillRect/>
          </a:stretch>
        </p:blipFill>
        <p:spPr>
          <a:xfrm>
            <a:off x="982980" y="3809841"/>
            <a:ext cx="10226039" cy="1761523"/>
          </a:xfrm>
          <a:prstGeom prst="rect">
            <a:avLst/>
          </a:prstGeom>
        </p:spPr>
      </p:pic>
    </p:spTree>
    <p:extLst>
      <p:ext uri="{BB962C8B-B14F-4D97-AF65-F5344CB8AC3E}">
        <p14:creationId xmlns:p14="http://schemas.microsoft.com/office/powerpoint/2010/main" val="2257328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latin typeface="Arial Narrow" panose="020B0606020202030204" pitchFamily="34" charset="0"/>
              </a:rPr>
              <a:t>Exploratory Data Analysis </a:t>
            </a:r>
            <a:endParaRPr lang="en-IN" b="1" dirty="0">
              <a:latin typeface="Arial Narrow" panose="020B0606020202030204" pitchFamily="34" charset="0"/>
            </a:endParaRPr>
          </a:p>
        </p:txBody>
      </p:sp>
      <p:sp>
        <p:nvSpPr>
          <p:cNvPr id="5" name="Slide Number Placeholder 4"/>
          <p:cNvSpPr>
            <a:spLocks noGrp="1"/>
          </p:cNvSpPr>
          <p:nvPr>
            <p:ph type="sldNum" sz="quarter" idx="12"/>
          </p:nvPr>
        </p:nvSpPr>
        <p:spPr/>
        <p:txBody>
          <a:bodyPr/>
          <a:lstStyle/>
          <a:p>
            <a:fld id="{90EDC104-672A-4227-99C4-0E2CC007FDBA}" type="slidenum">
              <a:rPr lang="en-IN" smtClean="0"/>
              <a:t>12</a:t>
            </a:fld>
            <a:endParaRPr lang="en-IN" dirty="0"/>
          </a:p>
        </p:txBody>
      </p:sp>
      <p:pic>
        <p:nvPicPr>
          <p:cNvPr id="7" name="Picture 6">
            <a:extLst>
              <a:ext uri="{FF2B5EF4-FFF2-40B4-BE49-F238E27FC236}">
                <a16:creationId xmlns:a16="http://schemas.microsoft.com/office/drawing/2014/main" id="{FB6EFA1F-C6F0-A9AA-9744-91484CEF8E32}"/>
              </a:ext>
            </a:extLst>
          </p:cNvPr>
          <p:cNvPicPr>
            <a:picLocks noChangeAspect="1"/>
          </p:cNvPicPr>
          <p:nvPr/>
        </p:nvPicPr>
        <p:blipFill rotWithShape="1">
          <a:blip r:embed="rId2"/>
          <a:srcRect l="281"/>
          <a:stretch/>
        </p:blipFill>
        <p:spPr>
          <a:xfrm>
            <a:off x="604995" y="1237788"/>
            <a:ext cx="9467229" cy="2603168"/>
          </a:xfrm>
          <a:prstGeom prst="rect">
            <a:avLst/>
          </a:prstGeom>
        </p:spPr>
      </p:pic>
      <p:pic>
        <p:nvPicPr>
          <p:cNvPr id="1028" name="Picture 4">
            <a:extLst>
              <a:ext uri="{FF2B5EF4-FFF2-40B4-BE49-F238E27FC236}">
                <a16:creationId xmlns:a16="http://schemas.microsoft.com/office/drawing/2014/main" id="{5AC79B5A-E8E3-A605-8456-89D02ABDD1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0574" y="3429000"/>
            <a:ext cx="3277267" cy="329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931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9BFBC-D418-BE95-3937-0D331B070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0D959-A94E-41AD-CC5E-723BB76FDAB7}"/>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Exploratory Data Analysis </a:t>
            </a:r>
            <a:endParaRPr lang="en-IN" b="1" dirty="0">
              <a:latin typeface="Arial Narrow" panose="020B0606020202030204" pitchFamily="34" charset="0"/>
            </a:endParaRPr>
          </a:p>
        </p:txBody>
      </p:sp>
      <p:sp>
        <p:nvSpPr>
          <p:cNvPr id="5" name="Slide Number Placeholder 4">
            <a:extLst>
              <a:ext uri="{FF2B5EF4-FFF2-40B4-BE49-F238E27FC236}">
                <a16:creationId xmlns:a16="http://schemas.microsoft.com/office/drawing/2014/main" id="{40248D76-7D74-C2E7-E56D-351899C2D41F}"/>
              </a:ext>
            </a:extLst>
          </p:cNvPr>
          <p:cNvSpPr>
            <a:spLocks noGrp="1"/>
          </p:cNvSpPr>
          <p:nvPr>
            <p:ph type="sldNum" sz="quarter" idx="12"/>
          </p:nvPr>
        </p:nvSpPr>
        <p:spPr/>
        <p:txBody>
          <a:bodyPr/>
          <a:lstStyle/>
          <a:p>
            <a:fld id="{90EDC104-672A-4227-99C4-0E2CC007FDBA}" type="slidenum">
              <a:rPr lang="en-IN" smtClean="0"/>
              <a:t>13</a:t>
            </a:fld>
            <a:endParaRPr lang="en-IN" dirty="0"/>
          </a:p>
        </p:txBody>
      </p:sp>
      <p:pic>
        <p:nvPicPr>
          <p:cNvPr id="1026" name="Picture 2">
            <a:extLst>
              <a:ext uri="{FF2B5EF4-FFF2-40B4-BE49-F238E27FC236}">
                <a16:creationId xmlns:a16="http://schemas.microsoft.com/office/drawing/2014/main" id="{80F2EAA8-D65C-5B9A-AF48-C64933552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135" y="3235805"/>
            <a:ext cx="9207500" cy="318660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A15AE1C-FE2A-D64E-49F4-A5FC37117692}"/>
              </a:ext>
            </a:extLst>
          </p:cNvPr>
          <p:cNvPicPr>
            <a:picLocks noChangeAspect="1"/>
          </p:cNvPicPr>
          <p:nvPr/>
        </p:nvPicPr>
        <p:blipFill>
          <a:blip r:embed="rId3"/>
          <a:stretch>
            <a:fillRect/>
          </a:stretch>
        </p:blipFill>
        <p:spPr>
          <a:xfrm>
            <a:off x="926335" y="1132443"/>
            <a:ext cx="5502208" cy="1672172"/>
          </a:xfrm>
          <a:prstGeom prst="rect">
            <a:avLst/>
          </a:prstGeom>
        </p:spPr>
      </p:pic>
      <p:pic>
        <p:nvPicPr>
          <p:cNvPr id="9" name="Picture 8">
            <a:extLst>
              <a:ext uri="{FF2B5EF4-FFF2-40B4-BE49-F238E27FC236}">
                <a16:creationId xmlns:a16="http://schemas.microsoft.com/office/drawing/2014/main" id="{ED855B1F-446B-38CB-0896-EA7239D5DAB0}"/>
              </a:ext>
            </a:extLst>
          </p:cNvPr>
          <p:cNvPicPr>
            <a:picLocks noChangeAspect="1"/>
          </p:cNvPicPr>
          <p:nvPr/>
        </p:nvPicPr>
        <p:blipFill rotWithShape="1">
          <a:blip r:embed="rId4"/>
          <a:srcRect l="620"/>
          <a:stretch/>
        </p:blipFill>
        <p:spPr>
          <a:xfrm>
            <a:off x="6923381" y="435586"/>
            <a:ext cx="4430419" cy="2369029"/>
          </a:xfrm>
          <a:prstGeom prst="rect">
            <a:avLst/>
          </a:prstGeom>
        </p:spPr>
      </p:pic>
    </p:spTree>
    <p:extLst>
      <p:ext uri="{BB962C8B-B14F-4D97-AF65-F5344CB8AC3E}">
        <p14:creationId xmlns:p14="http://schemas.microsoft.com/office/powerpoint/2010/main" val="2839764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5644D-9937-1078-006E-AEE917E34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310B7-FE7B-9638-4CA7-EEF71B6C52B2}"/>
              </a:ext>
            </a:extLst>
          </p:cNvPr>
          <p:cNvSpPr>
            <a:spLocks noGrp="1"/>
          </p:cNvSpPr>
          <p:nvPr>
            <p:ph type="title"/>
          </p:nvPr>
        </p:nvSpPr>
        <p:spPr>
          <a:xfrm>
            <a:off x="838199" y="-210474"/>
            <a:ext cx="10515600" cy="1325563"/>
          </a:xfrm>
        </p:spPr>
        <p:txBody>
          <a:bodyPr/>
          <a:lstStyle/>
          <a:p>
            <a:r>
              <a:rPr lang="en-US" b="1" dirty="0">
                <a:latin typeface="Arial Narrow" panose="020B0606020202030204" pitchFamily="34" charset="0"/>
              </a:rPr>
              <a:t>Exploratory Data Analysis </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A606B212-E889-C503-13CA-282B55DCA546}"/>
              </a:ext>
            </a:extLst>
          </p:cNvPr>
          <p:cNvSpPr>
            <a:spLocks noGrp="1"/>
          </p:cNvSpPr>
          <p:nvPr>
            <p:ph idx="1"/>
          </p:nvPr>
        </p:nvSpPr>
        <p:spPr>
          <a:xfrm>
            <a:off x="838200" y="1825625"/>
            <a:ext cx="5257800" cy="679402"/>
          </a:xfrm>
        </p:spPr>
        <p:txBody>
          <a:bodyPr/>
          <a:lstStyle/>
          <a:p>
            <a:pPr marL="0" indent="0">
              <a:buNone/>
            </a:pPr>
            <a:r>
              <a:rPr lang="en-US" dirty="0"/>
              <a:t>Train-Test Split for 16800 images</a:t>
            </a:r>
          </a:p>
          <a:p>
            <a:pPr marL="0" indent="0">
              <a:buNone/>
            </a:pPr>
            <a:endParaRPr lang="en-US" dirty="0"/>
          </a:p>
          <a:p>
            <a:pPr marL="0" indent="0">
              <a:buNone/>
            </a:pPr>
            <a:endParaRPr lang="en-IN" dirty="0"/>
          </a:p>
        </p:txBody>
      </p:sp>
      <p:sp>
        <p:nvSpPr>
          <p:cNvPr id="5" name="Slide Number Placeholder 4">
            <a:extLst>
              <a:ext uri="{FF2B5EF4-FFF2-40B4-BE49-F238E27FC236}">
                <a16:creationId xmlns:a16="http://schemas.microsoft.com/office/drawing/2014/main" id="{5DBDA2F8-080F-46D3-E560-2C826C9ED296}"/>
              </a:ext>
            </a:extLst>
          </p:cNvPr>
          <p:cNvSpPr>
            <a:spLocks noGrp="1"/>
          </p:cNvSpPr>
          <p:nvPr>
            <p:ph type="sldNum" sz="quarter" idx="12"/>
          </p:nvPr>
        </p:nvSpPr>
        <p:spPr/>
        <p:txBody>
          <a:bodyPr/>
          <a:lstStyle/>
          <a:p>
            <a:fld id="{90EDC104-672A-4227-99C4-0E2CC007FDBA}" type="slidenum">
              <a:rPr lang="en-IN" smtClean="0"/>
              <a:t>14</a:t>
            </a:fld>
            <a:endParaRPr lang="en-IN" dirty="0"/>
          </a:p>
        </p:txBody>
      </p:sp>
      <p:pic>
        <p:nvPicPr>
          <p:cNvPr id="9" name="Picture 8">
            <a:extLst>
              <a:ext uri="{FF2B5EF4-FFF2-40B4-BE49-F238E27FC236}">
                <a16:creationId xmlns:a16="http://schemas.microsoft.com/office/drawing/2014/main" id="{8D805937-0E8E-84C5-7D4F-1DA747E460D5}"/>
              </a:ext>
            </a:extLst>
          </p:cNvPr>
          <p:cNvPicPr>
            <a:picLocks noChangeAspect="1"/>
          </p:cNvPicPr>
          <p:nvPr/>
        </p:nvPicPr>
        <p:blipFill>
          <a:blip r:embed="rId2"/>
          <a:stretch>
            <a:fillRect/>
          </a:stretch>
        </p:blipFill>
        <p:spPr>
          <a:xfrm>
            <a:off x="838199" y="2505027"/>
            <a:ext cx="7178749" cy="3900665"/>
          </a:xfrm>
          <a:prstGeom prst="rect">
            <a:avLst/>
          </a:prstGeom>
        </p:spPr>
      </p:pic>
      <p:sp>
        <p:nvSpPr>
          <p:cNvPr id="11" name="TextBox 10">
            <a:extLst>
              <a:ext uri="{FF2B5EF4-FFF2-40B4-BE49-F238E27FC236}">
                <a16:creationId xmlns:a16="http://schemas.microsoft.com/office/drawing/2014/main" id="{08C497A1-EA2A-5248-4E67-67977303912D}"/>
              </a:ext>
            </a:extLst>
          </p:cNvPr>
          <p:cNvSpPr txBox="1"/>
          <p:nvPr/>
        </p:nvSpPr>
        <p:spPr>
          <a:xfrm>
            <a:off x="8261498" y="2781612"/>
            <a:ext cx="4017335" cy="2246769"/>
          </a:xfrm>
          <a:prstGeom prst="rect">
            <a:avLst/>
          </a:prstGeom>
          <a:noFill/>
        </p:spPr>
        <p:txBody>
          <a:bodyPr wrap="square" rtlCol="0">
            <a:spAutoFit/>
          </a:bodyPr>
          <a:lstStyle/>
          <a:p>
            <a:r>
              <a:rPr lang="en-US" sz="2800" dirty="0"/>
              <a:t>Test size = 0.2 = 20%</a:t>
            </a:r>
          </a:p>
          <a:p>
            <a:endParaRPr lang="en-US" sz="2800" dirty="0"/>
          </a:p>
          <a:p>
            <a:endParaRPr lang="en-US" sz="2800" dirty="0"/>
          </a:p>
          <a:p>
            <a:r>
              <a:rPr lang="en-US" sz="2800" dirty="0"/>
              <a:t>Train Data = 40*7*24*2</a:t>
            </a:r>
          </a:p>
          <a:p>
            <a:r>
              <a:rPr lang="en-US" sz="2800" dirty="0"/>
              <a:t>Test Data = 10*7*24*2</a:t>
            </a:r>
            <a:endParaRPr lang="en-IN" sz="2800" dirty="0"/>
          </a:p>
        </p:txBody>
      </p:sp>
    </p:spTree>
    <p:extLst>
      <p:ext uri="{BB962C8B-B14F-4D97-AF65-F5344CB8AC3E}">
        <p14:creationId xmlns:p14="http://schemas.microsoft.com/office/powerpoint/2010/main" val="3547883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1F197-2670-6238-BC3A-524EB62AF8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90C76-1B6F-E49F-3417-9CD8E127C821}"/>
              </a:ext>
            </a:extLst>
          </p:cNvPr>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07D4941B-9C34-449D-BC69-F6A81FA581C5}"/>
              </a:ext>
            </a:extLst>
          </p:cNvPr>
          <p:cNvSpPr>
            <a:spLocks noGrp="1"/>
          </p:cNvSpPr>
          <p:nvPr>
            <p:ph idx="1"/>
          </p:nvPr>
        </p:nvSpPr>
        <p:spPr>
          <a:xfrm>
            <a:off x="365760" y="1203309"/>
            <a:ext cx="11460480" cy="4998403"/>
          </a:xfrm>
        </p:spPr>
        <p:txBody>
          <a:bodyPr>
            <a:normAutofit lnSpcReduction="10000"/>
          </a:bodyPr>
          <a:lstStyle/>
          <a:p>
            <a:pPr marL="0" indent="0">
              <a:buNone/>
            </a:pPr>
            <a:r>
              <a:rPr lang="en-US" sz="3200" b="1" dirty="0">
                <a:latin typeface="+mj-lt"/>
              </a:rPr>
              <a:t>Initial </a:t>
            </a:r>
            <a:r>
              <a:rPr lang="en-IN" sz="3200" b="1" dirty="0">
                <a:latin typeface="+mj-lt"/>
              </a:rPr>
              <a:t>Convolutional Neural Network model after train-test-split</a:t>
            </a:r>
            <a:endParaRPr lang="en-US" sz="3200" b="1" dirty="0">
              <a:latin typeface="+mj-lt"/>
            </a:endParaRPr>
          </a:p>
          <a:p>
            <a:endParaRPr lang="en-US" sz="2400" dirty="0">
              <a:latin typeface="+mj-lt"/>
            </a:endParaRPr>
          </a:p>
          <a:p>
            <a:endParaRPr lang="en-US" sz="2400" dirty="0">
              <a:latin typeface="+mj-lt"/>
            </a:endParaRPr>
          </a:p>
          <a:p>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r>
              <a:rPr lang="en-US" sz="1950" dirty="0">
                <a:latin typeface="+mj-lt"/>
              </a:rPr>
              <a:t>The CNN model defined here starts with a simpler configuration, utilizing layers like `Conv2D` for convolutional operations and `MaxPooling2D` for down-sampling. </a:t>
            </a:r>
          </a:p>
          <a:p>
            <a:r>
              <a:rPr lang="en-US" sz="1950" dirty="0">
                <a:latin typeface="+mj-lt"/>
              </a:rPr>
              <a:t>The network architecture progresses from 16 filters in the first convolutional layer to 32 filters in the second, indicating a relatively modest complexity.</a:t>
            </a:r>
          </a:p>
          <a:p>
            <a:r>
              <a:rPr lang="en-US" sz="1950" dirty="0">
                <a:latin typeface="+mj-lt"/>
              </a:rPr>
              <a:t>It includes a `Flatten` layer to convert the 2D feature maps into a 1D vector, followed by a `Dense` layer with 64 neurons for classification purposes and another `Dense` layer for output with </a:t>
            </a:r>
            <a:r>
              <a:rPr lang="en-US" sz="1950" dirty="0" err="1">
                <a:latin typeface="+mj-lt"/>
              </a:rPr>
              <a:t>Softmax</a:t>
            </a:r>
            <a:r>
              <a:rPr lang="en-US" sz="1950" dirty="0">
                <a:latin typeface="+mj-lt"/>
              </a:rPr>
              <a:t> activation.</a:t>
            </a:r>
          </a:p>
          <a:p>
            <a:r>
              <a:rPr lang="en-US" sz="1950" dirty="0">
                <a:latin typeface="+mj-lt"/>
              </a:rPr>
              <a:t>This model is straightforward, aiming for a balance between feature learning and computational efficiency.</a:t>
            </a:r>
          </a:p>
          <a:p>
            <a:pPr marL="0" indent="0">
              <a:buNone/>
            </a:pPr>
            <a:endParaRPr lang="en-US" dirty="0"/>
          </a:p>
        </p:txBody>
      </p:sp>
      <p:sp>
        <p:nvSpPr>
          <p:cNvPr id="4" name="Footer Placeholder 3">
            <a:extLst>
              <a:ext uri="{FF2B5EF4-FFF2-40B4-BE49-F238E27FC236}">
                <a16:creationId xmlns:a16="http://schemas.microsoft.com/office/drawing/2014/main" id="{484CB18D-5488-76C2-13AC-3082CC741727}"/>
              </a:ext>
            </a:extLst>
          </p:cNvPr>
          <p:cNvSpPr>
            <a:spLocks noGrp="1"/>
          </p:cNvSpPr>
          <p:nvPr>
            <p:ph type="ftr" sz="quarter" idx="11"/>
          </p:nvPr>
        </p:nvSpPr>
        <p:spPr/>
        <p:txBody>
          <a:bodyPr/>
          <a:lstStyle/>
          <a:p>
            <a:r>
              <a:rPr lang="en-IN" dirty="0"/>
              <a:t>CS7501 Project 2 , PGP, ICER, VIT Bangalore</a:t>
            </a:r>
          </a:p>
        </p:txBody>
      </p:sp>
      <p:sp>
        <p:nvSpPr>
          <p:cNvPr id="5" name="Slide Number Placeholder 4">
            <a:extLst>
              <a:ext uri="{FF2B5EF4-FFF2-40B4-BE49-F238E27FC236}">
                <a16:creationId xmlns:a16="http://schemas.microsoft.com/office/drawing/2014/main" id="{232366E9-A0E8-3CF1-2289-26C114AFB140}"/>
              </a:ext>
            </a:extLst>
          </p:cNvPr>
          <p:cNvSpPr>
            <a:spLocks noGrp="1"/>
          </p:cNvSpPr>
          <p:nvPr>
            <p:ph type="sldNum" sz="quarter" idx="12"/>
          </p:nvPr>
        </p:nvSpPr>
        <p:spPr/>
        <p:txBody>
          <a:bodyPr/>
          <a:lstStyle/>
          <a:p>
            <a:fld id="{90EDC104-672A-4227-99C4-0E2CC007FDBA}" type="slidenum">
              <a:rPr lang="en-IN" smtClean="0"/>
              <a:t>15</a:t>
            </a:fld>
            <a:endParaRPr lang="en-IN" dirty="0"/>
          </a:p>
        </p:txBody>
      </p:sp>
      <p:pic>
        <p:nvPicPr>
          <p:cNvPr id="7" name="Picture 6">
            <a:extLst>
              <a:ext uri="{FF2B5EF4-FFF2-40B4-BE49-F238E27FC236}">
                <a16:creationId xmlns:a16="http://schemas.microsoft.com/office/drawing/2014/main" id="{69B74BFF-50C9-5DB2-F845-47B04B51819E}"/>
              </a:ext>
            </a:extLst>
          </p:cNvPr>
          <p:cNvPicPr>
            <a:picLocks noChangeAspect="1"/>
          </p:cNvPicPr>
          <p:nvPr/>
        </p:nvPicPr>
        <p:blipFill>
          <a:blip r:embed="rId2"/>
          <a:stretch>
            <a:fillRect/>
          </a:stretch>
        </p:blipFill>
        <p:spPr>
          <a:xfrm>
            <a:off x="507999" y="1752455"/>
            <a:ext cx="9267965" cy="1767985"/>
          </a:xfrm>
          <a:prstGeom prst="rect">
            <a:avLst/>
          </a:prstGeom>
          <a:ln w="6350">
            <a:solidFill>
              <a:schemeClr val="tx1"/>
            </a:solidFill>
          </a:ln>
        </p:spPr>
      </p:pic>
    </p:spTree>
    <p:extLst>
      <p:ext uri="{BB962C8B-B14F-4D97-AF65-F5344CB8AC3E}">
        <p14:creationId xmlns:p14="http://schemas.microsoft.com/office/powerpoint/2010/main" val="2578280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D52B-B358-C324-CDD3-303F5F334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E2E22-689B-1EDF-ADF4-A762D98A3C19}"/>
              </a:ext>
            </a:extLst>
          </p:cNvPr>
          <p:cNvSpPr>
            <a:spLocks noGrp="1"/>
          </p:cNvSpPr>
          <p:nvPr>
            <p:ph type="title"/>
          </p:nvPr>
        </p:nvSpPr>
        <p:spPr>
          <a:xfrm>
            <a:off x="838199" y="0"/>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D906A67A-99DD-E0D1-03B5-062C5B51C63D}"/>
              </a:ext>
            </a:extLst>
          </p:cNvPr>
          <p:cNvSpPr>
            <a:spLocks noGrp="1"/>
          </p:cNvSpPr>
          <p:nvPr>
            <p:ph idx="1"/>
          </p:nvPr>
        </p:nvSpPr>
        <p:spPr>
          <a:xfrm>
            <a:off x="365760" y="1325562"/>
            <a:ext cx="11369040" cy="5217477"/>
          </a:xfrm>
        </p:spPr>
        <p:txBody>
          <a:bodyPr>
            <a:normAutofit/>
          </a:bodyPr>
          <a:lstStyle/>
          <a:p>
            <a:pPr marL="0" indent="0">
              <a:buNone/>
            </a:pPr>
            <a:r>
              <a:rPr lang="en-IN" sz="3200" b="1" i="0" dirty="0">
                <a:effectLst/>
                <a:latin typeface="+mj-lt"/>
              </a:rPr>
              <a:t>CNN with Regularization</a:t>
            </a:r>
            <a:endParaRPr lang="en-US" sz="3200" b="1"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r>
              <a:rPr lang="en-US" sz="1950" dirty="0">
                <a:latin typeface="+mj-lt"/>
              </a:rPr>
              <a:t>This CNN architecture is more complex, starting with 32 filters and scaling up to 128 filters in subsequent convolutional layers, suggesting a deeper network designed to capture more intricate features.</a:t>
            </a:r>
          </a:p>
          <a:p>
            <a:r>
              <a:rPr lang="en-US" sz="1950" dirty="0">
                <a:latin typeface="+mj-lt"/>
              </a:rPr>
              <a:t>It introduces additional techniques like `Dropout` for regularization to prevent overfitting and `l1_l2` regularization within the `Dense` layer, enhancing the model's generalization capability.</a:t>
            </a:r>
          </a:p>
          <a:p>
            <a:r>
              <a:rPr lang="en-US" sz="1950" dirty="0">
                <a:latin typeface="+mj-lt"/>
              </a:rPr>
              <a:t>This model also uses a `Flatten` layer and a highly dense layer with 512 neurons, indicating a focus on learning high-level features for more accurate classification.</a:t>
            </a:r>
          </a:p>
          <a:p>
            <a:r>
              <a:rPr lang="en-US" sz="1950" dirty="0">
                <a:latin typeface="+mj-lt"/>
              </a:rPr>
              <a:t>The inclusion of advanced regularization techniques and a more substantial number of filters per layer points towards an emphasis on performance and accuracy, possibly at the expense of increased computational load.</a:t>
            </a:r>
          </a:p>
          <a:p>
            <a:pPr marL="0" indent="0">
              <a:buNone/>
            </a:pPr>
            <a:endParaRPr lang="en-US" dirty="0"/>
          </a:p>
        </p:txBody>
      </p:sp>
      <p:sp>
        <p:nvSpPr>
          <p:cNvPr id="4" name="Footer Placeholder 3">
            <a:extLst>
              <a:ext uri="{FF2B5EF4-FFF2-40B4-BE49-F238E27FC236}">
                <a16:creationId xmlns:a16="http://schemas.microsoft.com/office/drawing/2014/main" id="{7BFA3E74-044C-816A-8D2F-51E778C49E95}"/>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FB1E0A43-B978-FA2E-A68F-EDCF97F30768}"/>
              </a:ext>
            </a:extLst>
          </p:cNvPr>
          <p:cNvSpPr>
            <a:spLocks noGrp="1"/>
          </p:cNvSpPr>
          <p:nvPr>
            <p:ph type="sldNum" sz="quarter" idx="12"/>
          </p:nvPr>
        </p:nvSpPr>
        <p:spPr/>
        <p:txBody>
          <a:bodyPr/>
          <a:lstStyle/>
          <a:p>
            <a:fld id="{90EDC104-672A-4227-99C4-0E2CC007FDBA}" type="slidenum">
              <a:rPr lang="en-IN" smtClean="0"/>
              <a:t>16</a:t>
            </a:fld>
            <a:endParaRPr lang="en-IN"/>
          </a:p>
        </p:txBody>
      </p:sp>
      <p:pic>
        <p:nvPicPr>
          <p:cNvPr id="7" name="Picture 6">
            <a:extLst>
              <a:ext uri="{FF2B5EF4-FFF2-40B4-BE49-F238E27FC236}">
                <a16:creationId xmlns:a16="http://schemas.microsoft.com/office/drawing/2014/main" id="{C33D3CB1-5BC6-CC9D-C240-3AE598167EE1}"/>
              </a:ext>
            </a:extLst>
          </p:cNvPr>
          <p:cNvPicPr>
            <a:picLocks noChangeAspect="1"/>
          </p:cNvPicPr>
          <p:nvPr/>
        </p:nvPicPr>
        <p:blipFill>
          <a:blip r:embed="rId2"/>
          <a:stretch>
            <a:fillRect/>
          </a:stretch>
        </p:blipFill>
        <p:spPr>
          <a:xfrm>
            <a:off x="6278880" y="471805"/>
            <a:ext cx="5455920" cy="2881521"/>
          </a:xfrm>
          <a:prstGeom prst="rect">
            <a:avLst/>
          </a:prstGeom>
          <a:ln w="6350">
            <a:solidFill>
              <a:schemeClr val="tx1"/>
            </a:solidFill>
          </a:ln>
        </p:spPr>
      </p:pic>
    </p:spTree>
    <p:extLst>
      <p:ext uri="{BB962C8B-B14F-4D97-AF65-F5344CB8AC3E}">
        <p14:creationId xmlns:p14="http://schemas.microsoft.com/office/powerpoint/2010/main" val="2447434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D1CD1-C479-512D-50B2-60D5C721F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7685A-F154-E421-B793-E208A8D52125}"/>
              </a:ext>
            </a:extLst>
          </p:cNvPr>
          <p:cNvSpPr>
            <a:spLocks noGrp="1"/>
          </p:cNvSpPr>
          <p:nvPr>
            <p:ph type="title"/>
          </p:nvPr>
        </p:nvSpPr>
        <p:spPr>
          <a:xfrm>
            <a:off x="838200" y="52038"/>
            <a:ext cx="10515600" cy="1325563"/>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F46FEA81-ED98-E300-7AB9-378D1817F71F}"/>
              </a:ext>
            </a:extLst>
          </p:cNvPr>
          <p:cNvSpPr>
            <a:spLocks noGrp="1"/>
          </p:cNvSpPr>
          <p:nvPr>
            <p:ph idx="1"/>
          </p:nvPr>
        </p:nvSpPr>
        <p:spPr>
          <a:xfrm>
            <a:off x="497840" y="1198880"/>
            <a:ext cx="11206480" cy="5232400"/>
          </a:xfrm>
        </p:spPr>
        <p:txBody>
          <a:bodyPr>
            <a:normAutofit fontScale="62500" lnSpcReduction="20000"/>
          </a:bodyPr>
          <a:lstStyle/>
          <a:p>
            <a:pPr marL="0" indent="0">
              <a:buNone/>
            </a:pPr>
            <a:r>
              <a:rPr lang="en-US" sz="3600" b="1" dirty="0">
                <a:latin typeface="+mj-lt"/>
              </a:rPr>
              <a:t>Class Prediction using CNN</a:t>
            </a:r>
          </a:p>
          <a:p>
            <a:pPr marL="0" indent="0">
              <a:buNone/>
            </a:pPr>
            <a:endParaRPr lang="en-US" sz="3600" b="1" dirty="0">
              <a:latin typeface="+mj-lt"/>
            </a:endParaRPr>
          </a:p>
          <a:p>
            <a:pPr marL="0" indent="0">
              <a:buNone/>
            </a:pPr>
            <a:endParaRPr lang="en-US" sz="3600" b="1" dirty="0">
              <a:latin typeface="+mj-lt"/>
            </a:endParaRPr>
          </a:p>
          <a:p>
            <a:pPr marL="0" indent="0">
              <a:buNone/>
            </a:pPr>
            <a:endParaRPr lang="en-US" sz="3600" b="1" dirty="0">
              <a:latin typeface="+mj-lt"/>
            </a:endParaRPr>
          </a:p>
          <a:p>
            <a:pPr marL="0" indent="0">
              <a:buNone/>
            </a:pPr>
            <a:endParaRPr lang="en-US" sz="3600" b="1" dirty="0">
              <a:latin typeface="+mj-lt"/>
            </a:endParaRPr>
          </a:p>
          <a:p>
            <a:pPr marL="0" indent="0">
              <a:buNone/>
            </a:pPr>
            <a:endParaRPr lang="en-US" sz="3600" b="1" dirty="0">
              <a:latin typeface="+mj-lt"/>
            </a:endParaRPr>
          </a:p>
          <a:p>
            <a:r>
              <a:rPr lang="en-US" sz="2900" dirty="0">
                <a:latin typeface="+mj-lt"/>
              </a:rPr>
              <a:t>The prediction process involves inputting an image of a member into a pre-trained neural network to identify which member of BTS it is. </a:t>
            </a:r>
          </a:p>
          <a:p>
            <a:r>
              <a:rPr lang="en-US" sz="2900" dirty="0">
                <a:latin typeface="+mj-lt"/>
              </a:rPr>
              <a:t>The model receives an image, preprocesses it to match the input requirements (size and scale), and then feeds it into the neural network to predict the member's identity. </a:t>
            </a:r>
          </a:p>
          <a:p>
            <a:r>
              <a:rPr lang="en-US" sz="2900" dirty="0">
                <a:latin typeface="+mj-lt"/>
              </a:rPr>
              <a:t>The output is a probability distribution across all possible classes (members), and the highest probability indicates the model's predicted member. </a:t>
            </a:r>
          </a:p>
          <a:p>
            <a:r>
              <a:rPr lang="en-US" sz="2900" dirty="0">
                <a:latin typeface="+mj-lt"/>
              </a:rPr>
              <a:t>In this case, the image provided has been predicted by the model to be J Hope, with a probability of 18.65%. The prediction process combines image preprocessing, neural network processing, and probability analysis to identify the most likely member in the image.</a:t>
            </a:r>
          </a:p>
          <a:p>
            <a:r>
              <a:rPr lang="en-US" sz="2900" b="0" i="0" dirty="0">
                <a:effectLst/>
                <a:latin typeface="+mj-lt"/>
              </a:rPr>
              <a:t>The probability score is relatively low, indicating that the model is not highly confident in its prediction. This could be due to various factors such as the quality of the image, the similarity between the members, or the training data on which the model was trained.</a:t>
            </a:r>
            <a:endParaRPr lang="en-US" sz="2900" dirty="0">
              <a:latin typeface="+mj-lt"/>
            </a:endParaRPr>
          </a:p>
          <a:p>
            <a:pPr marL="0" indent="0">
              <a:buNone/>
            </a:pPr>
            <a:endParaRPr lang="en-US" sz="3200" b="1" dirty="0">
              <a:latin typeface="+mj-lt"/>
            </a:endParaRPr>
          </a:p>
        </p:txBody>
      </p:sp>
      <p:sp>
        <p:nvSpPr>
          <p:cNvPr id="4" name="Footer Placeholder 3">
            <a:extLst>
              <a:ext uri="{FF2B5EF4-FFF2-40B4-BE49-F238E27FC236}">
                <a16:creationId xmlns:a16="http://schemas.microsoft.com/office/drawing/2014/main" id="{DCF37673-0DC3-4BA2-AF2C-954934947969}"/>
              </a:ext>
            </a:extLst>
          </p:cNvPr>
          <p:cNvSpPr>
            <a:spLocks noGrp="1"/>
          </p:cNvSpPr>
          <p:nvPr>
            <p:ph type="ftr" sz="quarter" idx="11"/>
          </p:nvPr>
        </p:nvSpPr>
        <p:spPr/>
        <p:txBody>
          <a:bodyPr/>
          <a:lstStyle/>
          <a:p>
            <a:r>
              <a:rPr lang="en-IN"/>
              <a:t>CS7501 Project 2 , PGP, ICER, VIT Bangalore</a:t>
            </a:r>
          </a:p>
        </p:txBody>
      </p:sp>
      <p:sp>
        <p:nvSpPr>
          <p:cNvPr id="5" name="Slide Number Placeholder 4">
            <a:extLst>
              <a:ext uri="{FF2B5EF4-FFF2-40B4-BE49-F238E27FC236}">
                <a16:creationId xmlns:a16="http://schemas.microsoft.com/office/drawing/2014/main" id="{F86BC347-BAD5-885B-F526-A81E722B90F3}"/>
              </a:ext>
            </a:extLst>
          </p:cNvPr>
          <p:cNvSpPr>
            <a:spLocks noGrp="1"/>
          </p:cNvSpPr>
          <p:nvPr>
            <p:ph type="sldNum" sz="quarter" idx="12"/>
          </p:nvPr>
        </p:nvSpPr>
        <p:spPr/>
        <p:txBody>
          <a:bodyPr/>
          <a:lstStyle/>
          <a:p>
            <a:fld id="{90EDC104-672A-4227-99C4-0E2CC007FDBA}" type="slidenum">
              <a:rPr lang="en-IN" smtClean="0"/>
              <a:t>17</a:t>
            </a:fld>
            <a:endParaRPr lang="en-IN"/>
          </a:p>
        </p:txBody>
      </p:sp>
      <p:pic>
        <p:nvPicPr>
          <p:cNvPr id="7" name="Picture 6">
            <a:extLst>
              <a:ext uri="{FF2B5EF4-FFF2-40B4-BE49-F238E27FC236}">
                <a16:creationId xmlns:a16="http://schemas.microsoft.com/office/drawing/2014/main" id="{A6439961-BF48-750C-B67F-98610E9DA30B}"/>
              </a:ext>
            </a:extLst>
          </p:cNvPr>
          <p:cNvPicPr>
            <a:picLocks noChangeAspect="1"/>
          </p:cNvPicPr>
          <p:nvPr/>
        </p:nvPicPr>
        <p:blipFill>
          <a:blip r:embed="rId2"/>
          <a:stretch>
            <a:fillRect/>
          </a:stretch>
        </p:blipFill>
        <p:spPr>
          <a:xfrm>
            <a:off x="7687192" y="173772"/>
            <a:ext cx="3451057" cy="3050658"/>
          </a:xfrm>
          <a:prstGeom prst="rect">
            <a:avLst/>
          </a:prstGeom>
        </p:spPr>
      </p:pic>
      <p:pic>
        <p:nvPicPr>
          <p:cNvPr id="9" name="Picture 8">
            <a:extLst>
              <a:ext uri="{FF2B5EF4-FFF2-40B4-BE49-F238E27FC236}">
                <a16:creationId xmlns:a16="http://schemas.microsoft.com/office/drawing/2014/main" id="{914406FA-DE0A-1A04-3C75-36A067F8F1B6}"/>
              </a:ext>
            </a:extLst>
          </p:cNvPr>
          <p:cNvPicPr>
            <a:picLocks noChangeAspect="1"/>
          </p:cNvPicPr>
          <p:nvPr/>
        </p:nvPicPr>
        <p:blipFill>
          <a:blip r:embed="rId3"/>
          <a:stretch>
            <a:fillRect/>
          </a:stretch>
        </p:blipFill>
        <p:spPr>
          <a:xfrm>
            <a:off x="497840" y="1699101"/>
            <a:ext cx="6573868" cy="1325563"/>
          </a:xfrm>
          <a:prstGeom prst="rect">
            <a:avLst/>
          </a:prstGeom>
          <a:ln w="6350">
            <a:solidFill>
              <a:schemeClr val="tx1"/>
            </a:solidFill>
          </a:ln>
        </p:spPr>
      </p:pic>
    </p:spTree>
    <p:extLst>
      <p:ext uri="{BB962C8B-B14F-4D97-AF65-F5344CB8AC3E}">
        <p14:creationId xmlns:p14="http://schemas.microsoft.com/office/powerpoint/2010/main" val="3884108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Conclusion</a:t>
            </a:r>
            <a:endParaRPr lang="en-IN" b="1" dirty="0">
              <a:latin typeface="Arial Narrow" panose="020B0606020202030204" pitchFamily="34" charset="0"/>
            </a:endParaRPr>
          </a:p>
        </p:txBody>
      </p:sp>
      <p:sp>
        <p:nvSpPr>
          <p:cNvPr id="3" name="Content Placeholder 2"/>
          <p:cNvSpPr>
            <a:spLocks noGrp="1"/>
          </p:cNvSpPr>
          <p:nvPr>
            <p:ph idx="1"/>
          </p:nvPr>
        </p:nvSpPr>
        <p:spPr>
          <a:xfrm>
            <a:off x="198120" y="1056640"/>
            <a:ext cx="11795760" cy="4906963"/>
          </a:xfrm>
        </p:spPr>
        <p:txBody>
          <a:bodyPr>
            <a:normAutofit/>
          </a:bodyPr>
          <a:lstStyle/>
          <a:p>
            <a:endParaRPr lang="en-US" dirty="0">
              <a:latin typeface="+mj-lt"/>
            </a:endParaRPr>
          </a:p>
          <a:p>
            <a:r>
              <a:rPr lang="en-US" dirty="0">
                <a:latin typeface="+mj-lt"/>
              </a:rPr>
              <a:t>Techniques for improved facial feature differentiation were explored, enhancing the system's ability to distinguish between individuals even under varied conditions such as different lighting or appearance changes​​. </a:t>
            </a:r>
          </a:p>
          <a:p>
            <a:r>
              <a:rPr lang="en-US" dirty="0">
                <a:latin typeface="+mj-lt"/>
              </a:rPr>
              <a:t>A CNN model specifically tailored for the accurate recognition of BTS members was developed and refined through preprocessing and augmentation strategies.</a:t>
            </a:r>
          </a:p>
          <a:p>
            <a:r>
              <a:rPr lang="en-US" dirty="0">
                <a:latin typeface="+mj-lt"/>
              </a:rPr>
              <a:t>Siamese Neural Network is yet to be implemented thereby boosting the model's performance and reliability on test datasets​​. </a:t>
            </a:r>
          </a:p>
          <a:p>
            <a:r>
              <a:rPr lang="en-US" dirty="0">
                <a:latin typeface="+mj-lt"/>
              </a:rPr>
              <a:t>The model's accuracy and reliability to be thoroughly evaluated, ensuring its robustness and applicability in real-world scenarios​​.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18</a:t>
            </a:fld>
            <a:endParaRPr lang="en-IN"/>
          </a:p>
        </p:txBody>
      </p:sp>
    </p:spTree>
    <p:extLst>
      <p:ext uri="{BB962C8B-B14F-4D97-AF65-F5344CB8AC3E}">
        <p14:creationId xmlns:p14="http://schemas.microsoft.com/office/powerpoint/2010/main" val="597937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b="1" dirty="0">
                <a:latin typeface="Arial Narrow" panose="020B0606020202030204" pitchFamily="34" charset="0"/>
              </a:rPr>
              <a:t>Future Enhancement</a:t>
            </a:r>
            <a:endParaRPr lang="en-IN" b="1" dirty="0">
              <a:latin typeface="Arial Narrow" panose="020B0606020202030204" pitchFamily="34" charset="0"/>
            </a:endParaRPr>
          </a:p>
        </p:txBody>
      </p:sp>
      <p:sp>
        <p:nvSpPr>
          <p:cNvPr id="3" name="Content Placeholder 2"/>
          <p:cNvSpPr>
            <a:spLocks noGrp="1"/>
          </p:cNvSpPr>
          <p:nvPr>
            <p:ph idx="1"/>
          </p:nvPr>
        </p:nvSpPr>
        <p:spPr>
          <a:xfrm>
            <a:off x="182880" y="1178560"/>
            <a:ext cx="11856720" cy="5293360"/>
          </a:xfrm>
        </p:spPr>
        <p:txBody>
          <a:bodyPr/>
          <a:lstStyle/>
          <a:p>
            <a:pPr marL="0" indent="0">
              <a:buNone/>
            </a:pPr>
            <a:endParaRPr lang="en-US" dirty="0"/>
          </a:p>
          <a:p>
            <a:r>
              <a:rPr lang="en-US" dirty="0">
                <a:latin typeface="+mj-lt"/>
              </a:rPr>
              <a:t>Enhancing the dataset to cover a wider range of conditions and expressions for improved model robustness, while also refining the system for faster, real-time authentication.</a:t>
            </a:r>
          </a:p>
          <a:p>
            <a:r>
              <a:rPr lang="en-US" dirty="0">
                <a:latin typeface="+mj-lt"/>
              </a:rPr>
              <a:t>Advancing cross-platform integration and developing stronger anti-spoofing measures to secure against fraudulent access attempts.</a:t>
            </a:r>
          </a:p>
          <a:p>
            <a:r>
              <a:rPr lang="en-US" dirty="0">
                <a:latin typeface="+mj-lt"/>
              </a:rPr>
              <a:t>Incorporating privacy safeguards and continuous learning to ensure the system respects user privacy and adapts to new data over time.</a:t>
            </a:r>
          </a:p>
          <a:p>
            <a:r>
              <a:rPr lang="en-US" dirty="0">
                <a:latin typeface="+mj-lt"/>
              </a:rPr>
              <a:t>Scaling the system for broader application and training on an internationally diverse set of faces to ensure global effectiveness.</a:t>
            </a:r>
            <a:endParaRPr lang="en-IN" dirty="0">
              <a:latin typeface="+mj-lt"/>
            </a:endParaRPr>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19</a:t>
            </a:fld>
            <a:endParaRPr lang="en-IN"/>
          </a:p>
        </p:txBody>
      </p:sp>
    </p:spTree>
    <p:extLst>
      <p:ext uri="{BB962C8B-B14F-4D97-AF65-F5344CB8AC3E}">
        <p14:creationId xmlns:p14="http://schemas.microsoft.com/office/powerpoint/2010/main" val="1810526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References : APA format</a:t>
            </a:r>
            <a:endParaRPr lang="en-IN" b="1" dirty="0">
              <a:latin typeface="Arial Narrow" panose="020B0606020202030204" pitchFamily="34" charset="0"/>
            </a:endParaRPr>
          </a:p>
        </p:txBody>
      </p:sp>
      <p:sp>
        <p:nvSpPr>
          <p:cNvPr id="3" name="Content Placeholder 2"/>
          <p:cNvSpPr>
            <a:spLocks noGrp="1"/>
          </p:cNvSpPr>
          <p:nvPr>
            <p:ph idx="1"/>
          </p:nvPr>
        </p:nvSpPr>
        <p:spPr>
          <a:xfrm>
            <a:off x="579120" y="1473200"/>
            <a:ext cx="11023600" cy="4883150"/>
          </a:xfrm>
        </p:spPr>
        <p:txBody>
          <a:bodyPr>
            <a:normAutofit fontScale="62500" lnSpcReduction="20000"/>
          </a:bodyPr>
          <a:lstStyle/>
          <a:p>
            <a:pPr marL="514350" indent="-514350">
              <a:buFont typeface="+mj-lt"/>
              <a:buAutoNum type="arabicPeriod"/>
            </a:pPr>
            <a:r>
              <a:rPr lang="en-IN" b="0" i="0" dirty="0">
                <a:effectLst/>
                <a:latin typeface="Söhne"/>
              </a:rPr>
              <a:t>Kumar, C. R., N, S., </a:t>
            </a:r>
            <a:r>
              <a:rPr lang="en-IN" b="0" i="0" dirty="0" err="1">
                <a:effectLst/>
                <a:latin typeface="Söhne"/>
              </a:rPr>
              <a:t>Priyadharshini</a:t>
            </a:r>
            <a:r>
              <a:rPr lang="en-IN" b="0" i="0" dirty="0">
                <a:effectLst/>
                <a:latin typeface="Söhne"/>
              </a:rPr>
              <a:t>, M., E, D. G., &amp; M, K. R. (2023). Face recognition using CNN and Siamese network. </a:t>
            </a:r>
            <a:r>
              <a:rPr lang="en-IN" b="0" i="1" dirty="0">
                <a:effectLst/>
                <a:latin typeface="Söhne"/>
              </a:rPr>
              <a:t>Measurement: Sensors, 27</a:t>
            </a:r>
            <a:r>
              <a:rPr lang="en-IN" b="0" i="0" dirty="0">
                <a:effectLst/>
                <a:latin typeface="Söhne"/>
              </a:rPr>
              <a:t>(2023), 100800. </a:t>
            </a:r>
            <a:r>
              <a:rPr lang="en-IN" b="0" i="0" u="none" strike="noStrike" dirty="0">
                <a:effectLst/>
                <a:latin typeface="Söhne"/>
                <a:hlinkClick r:id="rId2"/>
              </a:rPr>
              <a:t>https://doi.org/10.1016/j.measen.2023.100800</a:t>
            </a:r>
            <a:endParaRPr lang="en-IN" b="0" i="0" dirty="0">
              <a:effectLst/>
              <a:latin typeface="Söhne"/>
            </a:endParaRPr>
          </a:p>
          <a:p>
            <a:pPr marL="514350" indent="-514350">
              <a:buFont typeface="+mj-lt"/>
              <a:buAutoNum type="arabicPeriod"/>
            </a:pPr>
            <a:r>
              <a:rPr lang="en-IN" b="0" i="0" dirty="0">
                <a:effectLst/>
                <a:latin typeface="Söhne"/>
              </a:rPr>
              <a:t>Solomon, E., </a:t>
            </a:r>
            <a:r>
              <a:rPr lang="en-IN" b="0" i="0" dirty="0" err="1">
                <a:effectLst/>
                <a:latin typeface="Söhne"/>
              </a:rPr>
              <a:t>Woubie</a:t>
            </a:r>
            <a:r>
              <a:rPr lang="en-IN" b="0" i="0" dirty="0">
                <a:effectLst/>
                <a:latin typeface="Söhne"/>
              </a:rPr>
              <a:t>, A., &amp; </a:t>
            </a:r>
            <a:r>
              <a:rPr lang="en-IN" b="0" i="0" dirty="0" err="1">
                <a:effectLst/>
                <a:latin typeface="Söhne"/>
              </a:rPr>
              <a:t>Emiru</a:t>
            </a:r>
            <a:r>
              <a:rPr lang="en-IN" b="0" i="0" dirty="0">
                <a:effectLst/>
                <a:latin typeface="Söhne"/>
              </a:rPr>
              <a:t>, E. S. (2024). Deep Learning Based Face Recognition Method using Siamese Network. </a:t>
            </a:r>
            <a:r>
              <a:rPr lang="en-IN" b="0" i="1" dirty="0" err="1">
                <a:effectLst/>
                <a:latin typeface="Söhne"/>
              </a:rPr>
              <a:t>arXiv</a:t>
            </a:r>
            <a:r>
              <a:rPr lang="en-IN" b="0" i="1" dirty="0">
                <a:effectLst/>
                <a:latin typeface="Söhne"/>
              </a:rPr>
              <a:t> preprint arXiv:2312.14001</a:t>
            </a:r>
            <a:r>
              <a:rPr lang="en-IN" b="0" i="0" dirty="0">
                <a:effectLst/>
                <a:latin typeface="Söhne"/>
              </a:rPr>
              <a:t>. Retrieved from </a:t>
            </a:r>
            <a:r>
              <a:rPr lang="en-IN" b="0" i="0" u="none" strike="noStrike" dirty="0">
                <a:effectLst/>
                <a:latin typeface="Söhne"/>
                <a:hlinkClick r:id="rId3"/>
              </a:rPr>
              <a:t>https://arxiv.org/abs/2312.14001</a:t>
            </a:r>
            <a:endParaRPr lang="en-IN" b="0" i="0" u="none" strike="noStrike" dirty="0">
              <a:effectLst/>
              <a:latin typeface="Söhne"/>
            </a:endParaRPr>
          </a:p>
          <a:p>
            <a:pPr marL="514350" indent="-514350">
              <a:buFont typeface="+mj-lt"/>
              <a:buAutoNum type="arabicPeriod"/>
            </a:pPr>
            <a:r>
              <a:rPr lang="en-IN" b="0" i="0" dirty="0">
                <a:effectLst/>
                <a:latin typeface="Söhne"/>
              </a:rPr>
              <a:t>Hamdani, N. D., </a:t>
            </a:r>
            <a:r>
              <a:rPr lang="en-IN" b="0" i="0" dirty="0" err="1">
                <a:effectLst/>
                <a:latin typeface="Söhne"/>
              </a:rPr>
              <a:t>Bousahba</a:t>
            </a:r>
            <a:r>
              <a:rPr lang="en-IN" b="0" i="0" dirty="0">
                <a:effectLst/>
                <a:latin typeface="Söhne"/>
              </a:rPr>
              <a:t>, N., </a:t>
            </a:r>
            <a:r>
              <a:rPr lang="en-IN" b="0" i="0" dirty="0" err="1">
                <a:effectLst/>
                <a:latin typeface="Söhne"/>
              </a:rPr>
              <a:t>Bousbai</a:t>
            </a:r>
            <a:r>
              <a:rPr lang="en-IN" b="0" i="0" dirty="0">
                <a:effectLst/>
                <a:latin typeface="Söhne"/>
              </a:rPr>
              <a:t>, A. H., &amp; </a:t>
            </a:r>
            <a:r>
              <a:rPr lang="en-IN" b="0" i="0" dirty="0" err="1">
                <a:effectLst/>
                <a:latin typeface="Söhne"/>
              </a:rPr>
              <a:t>Braikia</a:t>
            </a:r>
            <a:r>
              <a:rPr lang="en-IN" b="0" i="0" dirty="0">
                <a:effectLst/>
                <a:latin typeface="Söhne"/>
              </a:rPr>
              <a:t>, A. (2023). Face Detection and Recognition Using Siamese Neural Network. </a:t>
            </a:r>
            <a:r>
              <a:rPr lang="en-IN" b="0" i="1" dirty="0">
                <a:effectLst/>
                <a:latin typeface="Söhne"/>
              </a:rPr>
              <a:t>International Journal of Computing and Digital Systems</a:t>
            </a:r>
            <a:r>
              <a:rPr lang="en-IN" b="0" i="0" dirty="0">
                <a:effectLst/>
                <a:latin typeface="Söhne"/>
              </a:rPr>
              <a:t>, 14(1), 889-897. </a:t>
            </a:r>
            <a:r>
              <a:rPr lang="en-IN" b="0" i="0" u="none" strike="noStrike" dirty="0">
                <a:effectLst/>
                <a:latin typeface="Söhne"/>
                <a:hlinkClick r:id="rId4"/>
              </a:rPr>
              <a:t>http://dx.doi.org/10.12785/ijcds/140169</a:t>
            </a:r>
            <a:endParaRPr lang="en-IN" b="0" i="0" u="none" strike="noStrike" dirty="0">
              <a:effectLst/>
              <a:latin typeface="Söhne"/>
            </a:endParaRPr>
          </a:p>
          <a:p>
            <a:pPr marL="514350" indent="-514350">
              <a:buFont typeface="+mj-lt"/>
              <a:buAutoNum type="arabicPeriod"/>
            </a:pPr>
            <a:r>
              <a:rPr lang="en-IN" b="0" i="0" dirty="0">
                <a:effectLst/>
                <a:latin typeface="Söhne"/>
              </a:rPr>
              <a:t>Yu, H. Q. (2024). Attention Enhanced Siamese Neural Network for Face Validation. </a:t>
            </a:r>
            <a:r>
              <a:rPr lang="en-IN" b="0" i="1" dirty="0">
                <a:effectLst/>
                <a:latin typeface="Söhne"/>
              </a:rPr>
              <a:t>Artificial Intelligence and Applications</a:t>
            </a:r>
            <a:r>
              <a:rPr lang="en-IN" b="0" i="0" dirty="0">
                <a:effectLst/>
                <a:latin typeface="Söhne"/>
              </a:rPr>
              <a:t>, 2(1), 21–27. </a:t>
            </a:r>
            <a:r>
              <a:rPr lang="en-IN" b="0" i="0" u="none" strike="noStrike" dirty="0">
                <a:effectLst/>
                <a:latin typeface="Söhne"/>
                <a:hlinkClick r:id="rId5"/>
              </a:rPr>
              <a:t>https://doi.org/10.47852/bonviewAIA32021018</a:t>
            </a:r>
            <a:endParaRPr lang="en-IN" b="0" i="0" u="none" strike="noStrike" dirty="0">
              <a:effectLst/>
              <a:latin typeface="Söhne"/>
            </a:endParaRPr>
          </a:p>
          <a:p>
            <a:pPr marL="514350" indent="-514350">
              <a:buFont typeface="+mj-lt"/>
              <a:buAutoNum type="arabicPeriod"/>
            </a:pPr>
            <a:r>
              <a:rPr lang="en-US" b="0" i="0" dirty="0" err="1">
                <a:effectLst/>
                <a:latin typeface="Söhne"/>
              </a:rPr>
              <a:t>Navghare</a:t>
            </a:r>
            <a:r>
              <a:rPr lang="en-US" b="0" i="0" dirty="0">
                <a:effectLst/>
                <a:latin typeface="Söhne"/>
              </a:rPr>
              <a:t>, T., Muley, A., &amp; Jadhav, V. (2024). Siamese Neural Networks for Kinship Prediction: A Deep Convolutional Neural Network Approach. </a:t>
            </a:r>
            <a:r>
              <a:rPr lang="en-US" b="0" i="1" dirty="0">
                <a:effectLst/>
                <a:latin typeface="Söhne"/>
              </a:rPr>
              <a:t>Indian Journal of Science and Technology</a:t>
            </a:r>
            <a:r>
              <a:rPr lang="en-US" b="0" i="0" dirty="0">
                <a:effectLst/>
                <a:latin typeface="Söhne"/>
              </a:rPr>
              <a:t>, 17(4), 352-358. </a:t>
            </a:r>
            <a:r>
              <a:rPr lang="en-US" b="0" i="0" u="none" strike="noStrike" dirty="0">
                <a:effectLst/>
                <a:latin typeface="Söhne"/>
                <a:hlinkClick r:id="rId6"/>
              </a:rPr>
              <a:t>https://doi.org/10.17485/IJST/v17i4.3018</a:t>
            </a:r>
            <a:endParaRPr lang="en-US" b="0" i="0" u="none" strike="noStrike" dirty="0">
              <a:effectLst/>
              <a:latin typeface="Söhne"/>
            </a:endParaRPr>
          </a:p>
          <a:p>
            <a:pPr marL="514350" indent="-514350">
              <a:buFont typeface="+mj-lt"/>
              <a:buAutoNum type="arabicPeriod"/>
            </a:pPr>
            <a:r>
              <a:rPr lang="en-IN" b="0" i="0" dirty="0">
                <a:effectLst/>
                <a:latin typeface="Söhne"/>
              </a:rPr>
              <a:t>Menendez, E., Martínez, S., Díaz-de-María, F., &amp; Balaguer, C. (2024). Integrating Egocentric and Robotic Vision for Object Identification Using Siamese Networks and </a:t>
            </a:r>
            <a:r>
              <a:rPr lang="en-IN" b="0" i="0" dirty="0" err="1">
                <a:effectLst/>
                <a:latin typeface="Söhne"/>
              </a:rPr>
              <a:t>Superquadric</a:t>
            </a:r>
            <a:r>
              <a:rPr lang="en-IN" b="0" i="0" dirty="0">
                <a:effectLst/>
                <a:latin typeface="Söhne"/>
              </a:rPr>
              <a:t> Estimations in Partial Occlusion Scenarios. </a:t>
            </a:r>
            <a:r>
              <a:rPr lang="en-IN" b="0" i="1" dirty="0">
                <a:effectLst/>
                <a:latin typeface="Söhne"/>
              </a:rPr>
              <a:t>Biomimetics</a:t>
            </a:r>
            <a:r>
              <a:rPr lang="en-IN" b="0" i="0" dirty="0">
                <a:effectLst/>
                <a:latin typeface="Söhne"/>
              </a:rPr>
              <a:t>, 9(100), 1-21. </a:t>
            </a:r>
            <a:r>
              <a:rPr lang="en-IN" b="0" i="0" u="none" strike="noStrike" dirty="0">
                <a:effectLst/>
                <a:latin typeface="Söhne"/>
                <a:hlinkClick r:id="rId7"/>
              </a:rPr>
              <a:t>https://doi.org/10.3390/biomimetics9020100</a:t>
            </a:r>
            <a:endParaRPr lang="en-US" b="0" i="0" u="none" strike="noStrike" dirty="0">
              <a:effectLst/>
              <a:latin typeface="Söhne"/>
            </a:endParaRPr>
          </a:p>
          <a:p>
            <a:pPr marL="514350" indent="-514350">
              <a:buFont typeface="+mj-lt"/>
              <a:buAutoNum type="arabicPeriod"/>
            </a:pPr>
            <a:r>
              <a:rPr lang="en-IN" b="0" i="0" dirty="0" err="1">
                <a:effectLst/>
                <a:latin typeface="Söhne"/>
              </a:rPr>
              <a:t>Hajamohideen</a:t>
            </a:r>
            <a:r>
              <a:rPr lang="en-IN" b="0" i="0" dirty="0">
                <a:effectLst/>
                <a:latin typeface="Söhne"/>
              </a:rPr>
              <a:t>, F., </a:t>
            </a:r>
            <a:r>
              <a:rPr lang="en-IN" b="0" i="0" dirty="0" err="1">
                <a:effectLst/>
                <a:latin typeface="Söhne"/>
              </a:rPr>
              <a:t>Shaffi</a:t>
            </a:r>
            <a:r>
              <a:rPr lang="en-IN" b="0" i="0" dirty="0">
                <a:effectLst/>
                <a:latin typeface="Söhne"/>
              </a:rPr>
              <a:t>, N., Mahmud, M., Subramanian, K., Al </a:t>
            </a:r>
            <a:r>
              <a:rPr lang="en-IN" b="0" i="0" dirty="0" err="1">
                <a:effectLst/>
                <a:latin typeface="Söhne"/>
              </a:rPr>
              <a:t>Sariri</a:t>
            </a:r>
            <a:r>
              <a:rPr lang="en-IN" b="0" i="0" dirty="0">
                <a:effectLst/>
                <a:latin typeface="Söhne"/>
              </a:rPr>
              <a:t>, A., </a:t>
            </a:r>
            <a:r>
              <a:rPr lang="en-IN" b="0" i="0" dirty="0" err="1">
                <a:effectLst/>
                <a:latin typeface="Söhne"/>
              </a:rPr>
              <a:t>Vimbi</a:t>
            </a:r>
            <a:r>
              <a:rPr lang="en-IN" b="0" i="0" dirty="0">
                <a:effectLst/>
                <a:latin typeface="Söhne"/>
              </a:rPr>
              <a:t>, V., ... &amp; for the Alzheimer’s Disease Neuroimaging Initiative. (2023). Four-way classification of Alzheimer’s disease using deep Siamese convolutional neural network with triplet-loss function. Brain Informatics, 10(5). </a:t>
            </a:r>
            <a:r>
              <a:rPr lang="en-IN" b="0" i="0" u="none" strike="noStrike" dirty="0">
                <a:effectLst/>
                <a:latin typeface="Söhne"/>
                <a:hlinkClick r:id="rId8"/>
              </a:rPr>
              <a:t>https://doi.org/10.1186/s40708-023-00184-w</a:t>
            </a:r>
            <a:endParaRPr lang="en-IN" b="0" i="0" u="none" strike="noStrike" dirty="0">
              <a:effectLst/>
              <a:latin typeface="Söhne"/>
            </a:endParaRPr>
          </a:p>
          <a:p>
            <a:pPr marL="0" indent="0">
              <a:buNone/>
            </a:pPr>
            <a:endParaRPr lang="en-IN" dirty="0"/>
          </a:p>
        </p:txBody>
      </p:sp>
      <p:sp>
        <p:nvSpPr>
          <p:cNvPr id="4" name="Footer Placeholder 3"/>
          <p:cNvSpPr>
            <a:spLocks noGrp="1"/>
          </p:cNvSpPr>
          <p:nvPr>
            <p:ph type="ftr" sz="quarter" idx="11"/>
          </p:nvPr>
        </p:nvSpPr>
        <p:spPr/>
        <p:txBody>
          <a:bodyPr/>
          <a:lstStyle/>
          <a:p>
            <a:r>
              <a:rPr lang="en-IN"/>
              <a:t>CS7501 Project 2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20</a:t>
            </a:fld>
            <a:endParaRPr lang="en-IN"/>
          </a:p>
        </p:txBody>
      </p:sp>
    </p:spTree>
    <p:extLst>
      <p:ext uri="{BB962C8B-B14F-4D97-AF65-F5344CB8AC3E}">
        <p14:creationId xmlns:p14="http://schemas.microsoft.com/office/powerpoint/2010/main" val="4144063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TotalTime>
  <Words>2258</Words>
  <Application>Microsoft Office PowerPoint</Application>
  <PresentationFormat>Widescreen</PresentationFormat>
  <Paragraphs>181</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 Narrow</vt:lpstr>
      <vt:lpstr>Calibri</vt:lpstr>
      <vt:lpstr>Calibri Light</vt:lpstr>
      <vt:lpstr>Söhne</vt:lpstr>
      <vt:lpstr>Wingdings</vt:lpstr>
      <vt:lpstr>Office Theme</vt:lpstr>
      <vt:lpstr>Project Title : Implementing Deep Learning Models for Face Recognition  Domain: Pattern Recognition and Neural Networks  </vt:lpstr>
      <vt:lpstr>Abstract</vt:lpstr>
      <vt:lpstr>Introduction</vt:lpstr>
      <vt:lpstr>Need of study</vt:lpstr>
      <vt:lpstr>Problem Statement</vt:lpstr>
      <vt:lpstr>Objectives</vt:lpstr>
      <vt:lpstr>Related Work</vt:lpstr>
      <vt:lpstr>Proposed Methodology</vt:lpstr>
      <vt:lpstr>Proposed Methodology</vt:lpstr>
      <vt:lpstr>Proposed Methodology</vt:lpstr>
      <vt:lpstr>Dataset</vt:lpstr>
      <vt:lpstr>Exploratory Data Analysis </vt:lpstr>
      <vt:lpstr>Exploratory Data Analysis </vt:lpstr>
      <vt:lpstr>Exploratory Data Analysis </vt:lpstr>
      <vt:lpstr>Results and Discussion</vt:lpstr>
      <vt:lpstr>Results and Discussion</vt:lpstr>
      <vt:lpstr>Results and Discussion</vt:lpstr>
      <vt:lpstr>Conclusion</vt:lpstr>
      <vt:lpstr>Future Enhancement</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Dharshani A</cp:lastModifiedBy>
  <cp:revision>21</cp:revision>
  <dcterms:created xsi:type="dcterms:W3CDTF">2023-11-15T14:09:37Z</dcterms:created>
  <dcterms:modified xsi:type="dcterms:W3CDTF">2024-03-01T09:53:30Z</dcterms:modified>
</cp:coreProperties>
</file>