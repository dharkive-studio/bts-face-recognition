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67" r:id="rId3"/>
    <p:sldId id="268" r:id="rId4"/>
    <p:sldId id="272" r:id="rId5"/>
    <p:sldId id="257" r:id="rId6"/>
    <p:sldId id="261" r:id="rId7"/>
    <p:sldId id="269" r:id="rId8"/>
    <p:sldId id="260" r:id="rId9"/>
    <p:sldId id="274" r:id="rId10"/>
    <p:sldId id="275" r:id="rId11"/>
    <p:sldId id="273" r:id="rId12"/>
    <p:sldId id="263" r:id="rId13"/>
    <p:sldId id="281" r:id="rId14"/>
    <p:sldId id="282" r:id="rId15"/>
    <p:sldId id="277" r:id="rId16"/>
    <p:sldId id="280" r:id="rId17"/>
    <p:sldId id="279" r:id="rId18"/>
    <p:sldId id="284" r:id="rId19"/>
    <p:sldId id="286" r:id="rId20"/>
    <p:sldId id="287" r:id="rId21"/>
    <p:sldId id="265" r:id="rId22"/>
    <p:sldId id="264" r:id="rId23"/>
    <p:sldId id="26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15-03-2024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E22A40A-7AC8-42CF-9BEF-716456361048}" type="datetime1">
              <a:rPr lang="en-IN" smtClean="0"/>
              <a:t>15-03-2024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8F56DB-C515-4D59-BA31-96CDA4A4A0D9}" type="datetime1">
              <a:rPr lang="en-IN" smtClean="0"/>
              <a:t>15-03-2024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E1B9E0E-8141-4053-9D33-9323C4C64632}" type="datetime1">
              <a:rPr lang="en-IN" smtClean="0"/>
              <a:t>15-03-2024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4A18D7D-B16B-460B-AD01-DCD49494CA3D}" type="datetime1">
              <a:rPr lang="en-IN" smtClean="0"/>
              <a:t>15-03-2024</a:t>
            </a:fld>
            <a:endParaRPr lang="en-IN"/>
          </a:p>
        </p:txBody>
      </p:sp>
      <p:sp>
        <p:nvSpPr>
          <p:cNvPr id="6" name="Footer Placeholder 5"/>
          <p:cNvSpPr>
            <a:spLocks noGrp="1"/>
          </p:cNvSpPr>
          <p:nvPr>
            <p:ph type="ftr" sz="quarter" idx="11"/>
          </p:nvPr>
        </p:nvSpPr>
        <p:spPr/>
        <p:txBody>
          <a:bodyPr/>
          <a:lstStyle/>
          <a:p>
            <a:r>
              <a:rPr lang="en-IN"/>
              <a:t>CS7501 Project 2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0292A78-0C3D-4759-BF71-9ECFD3D35353}" type="datetime1">
              <a:rPr lang="en-IN" smtClean="0"/>
              <a:t>15-03-2024</a:t>
            </a:fld>
            <a:endParaRPr lang="en-IN"/>
          </a:p>
        </p:txBody>
      </p:sp>
      <p:sp>
        <p:nvSpPr>
          <p:cNvPr id="8" name="Footer Placeholder 7"/>
          <p:cNvSpPr>
            <a:spLocks noGrp="1"/>
          </p:cNvSpPr>
          <p:nvPr>
            <p:ph type="ftr" sz="quarter" idx="11"/>
          </p:nvPr>
        </p:nvSpPr>
        <p:spPr/>
        <p:txBody>
          <a:bodyPr/>
          <a:lstStyle/>
          <a:p>
            <a:r>
              <a:rPr lang="en-IN"/>
              <a:t>CS7501 Project 2 ,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868CD02-2456-484B-8393-AC776251CF95}" type="datetime1">
              <a:rPr lang="en-IN" smtClean="0"/>
              <a:t>15-03-2024</a:t>
            </a:fld>
            <a:endParaRPr lang="en-IN"/>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5E74F5-AAB1-470A-A55B-9A7CE5D12E05}" type="datetime1">
              <a:rPr lang="en-IN" smtClean="0"/>
              <a:t>15-03-2024</a:t>
            </a:fld>
            <a:endParaRPr lang="en-IN"/>
          </a:p>
        </p:txBody>
      </p:sp>
      <p:sp>
        <p:nvSpPr>
          <p:cNvPr id="3" name="Footer Placeholder 2"/>
          <p:cNvSpPr>
            <a:spLocks noGrp="1"/>
          </p:cNvSpPr>
          <p:nvPr>
            <p:ph type="ftr" sz="quarter" idx="11"/>
          </p:nvPr>
        </p:nvSpPr>
        <p:spPr/>
        <p:txBody>
          <a:bodyPr/>
          <a:lstStyle/>
          <a:p>
            <a:r>
              <a:rPr lang="en-IN"/>
              <a:t>CS7501 Project 2 ,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9A1F7C9-295E-4D6F-B86A-3644E303BB31}" type="datetime1">
              <a:rPr lang="en-IN" smtClean="0"/>
              <a:t>15-03-2024</a:t>
            </a:fld>
            <a:endParaRPr lang="en-IN"/>
          </a:p>
        </p:txBody>
      </p:sp>
      <p:sp>
        <p:nvSpPr>
          <p:cNvPr id="6" name="Footer Placeholder 5"/>
          <p:cNvSpPr>
            <a:spLocks noGrp="1"/>
          </p:cNvSpPr>
          <p:nvPr>
            <p:ph type="ftr" sz="quarter" idx="11"/>
          </p:nvPr>
        </p:nvSpPr>
        <p:spPr/>
        <p:txBody>
          <a:bodyPr/>
          <a:lstStyle/>
          <a:p>
            <a:r>
              <a:rPr lang="en-IN"/>
              <a:t>CS7501 Project 2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33789F-14FA-46A1-AB7B-B9E567C4C708}" type="datetime1">
              <a:rPr lang="en-IN" smtClean="0"/>
              <a:t>15-03-2024</a:t>
            </a:fld>
            <a:endParaRPr lang="en-IN"/>
          </a:p>
        </p:txBody>
      </p:sp>
      <p:sp>
        <p:nvSpPr>
          <p:cNvPr id="6" name="Footer Placeholder 5"/>
          <p:cNvSpPr>
            <a:spLocks noGrp="1"/>
          </p:cNvSpPr>
          <p:nvPr>
            <p:ph type="ftr" sz="quarter" idx="11"/>
          </p:nvPr>
        </p:nvSpPr>
        <p:spPr/>
        <p:txBody>
          <a:bodyPr/>
          <a:lstStyle/>
          <a:p>
            <a:r>
              <a:rPr lang="en-IN"/>
              <a:t>CS7501 Project 2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C2971F6-5955-45C0-A7FE-779538743A90}" type="datetime1">
              <a:rPr lang="en-IN" smtClean="0"/>
              <a:t>15-03-2024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1EEC5A6-1770-4661-9873-D80C368AA063}" type="datetime1">
              <a:rPr lang="en-IN" smtClean="0"/>
              <a:t>15-03-2024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69A726-769E-4A72-96AC-6065A5CC3F6D}" type="datetime1">
              <a:rPr lang="en-IN" smtClean="0"/>
              <a:t>15-03-2024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CS7501 Project 2 ,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doi.org/10.1186/s40708-023-00184-w" TargetMode="External"/><Relationship Id="rId3" Type="http://schemas.openxmlformats.org/officeDocument/2006/relationships/hyperlink" Target="https://arxiv.org/abs/2312.14001" TargetMode="External"/><Relationship Id="rId7" Type="http://schemas.openxmlformats.org/officeDocument/2006/relationships/hyperlink" Target="https://doi.org/10.3390/biomimetics9020100" TargetMode="External"/><Relationship Id="rId2" Type="http://schemas.openxmlformats.org/officeDocument/2006/relationships/hyperlink" Target="https://doi.org/10.1016/j.measen.2023.100800" TargetMode="External"/><Relationship Id="rId1" Type="http://schemas.openxmlformats.org/officeDocument/2006/relationships/slideLayout" Target="../slideLayouts/slideLayout2.xml"/><Relationship Id="rId6" Type="http://schemas.openxmlformats.org/officeDocument/2006/relationships/hyperlink" Target="https://doi.org/10.17485/IJST/v17i4.3018" TargetMode="External"/><Relationship Id="rId5" Type="http://schemas.openxmlformats.org/officeDocument/2006/relationships/hyperlink" Target="https://doi.org/10.47852/bonviewAIA32021018" TargetMode="External"/><Relationship Id="rId4" Type="http://schemas.openxmlformats.org/officeDocument/2006/relationships/hyperlink" Target="http://dx.doi.org/10.12785/ijcds/14016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29480"/>
            <a:ext cx="9144000" cy="4124194"/>
          </a:xfrm>
        </p:spPr>
        <p:txBody>
          <a:bodyPr>
            <a:normAutofit/>
          </a:bodyPr>
          <a:lstStyle/>
          <a:p>
            <a:r>
              <a:rPr lang="en-US" sz="4000" dirty="0">
                <a:latin typeface="Arial Narrow" panose="020B0606020202030204" pitchFamily="34" charset="0"/>
              </a:rPr>
              <a:t>Project Title : </a:t>
            </a:r>
            <a:r>
              <a:rPr lang="en-US" sz="4000" b="1" i="0" dirty="0">
                <a:solidFill>
                  <a:srgbClr val="222222"/>
                </a:solidFill>
                <a:effectLst/>
                <a:latin typeface="Arial Narrow" panose="020B0606020202030204" pitchFamily="34" charset="0"/>
              </a:rPr>
              <a:t>Implementing Deep Learning Models for Face Recognition</a:t>
            </a:r>
            <a:br>
              <a:rPr lang="en-US" sz="3600" b="1" i="0" dirty="0">
                <a:solidFill>
                  <a:srgbClr val="222222"/>
                </a:solidFill>
                <a:effectLst/>
                <a:latin typeface="Arial" panose="020B0604020202020204" pitchFamily="34" charset="0"/>
              </a:rPr>
            </a:br>
            <a:br>
              <a:rPr lang="en-US" sz="3600" dirty="0">
                <a:latin typeface="Arial Narrow" panose="020B0606020202030204" pitchFamily="34" charset="0"/>
              </a:rPr>
            </a:br>
            <a:r>
              <a:rPr lang="en-US" sz="3200" dirty="0">
                <a:latin typeface="Arial Narrow" panose="020B0606020202030204" pitchFamily="34" charset="0"/>
              </a:rPr>
              <a:t>Domain: </a:t>
            </a:r>
            <a:r>
              <a:rPr lang="en-US" sz="3200" b="1" dirty="0">
                <a:latin typeface="Arial Narrow" panose="020B0606020202030204" pitchFamily="34" charset="0"/>
              </a:rPr>
              <a:t>Pattern Recognition and Neural Networks</a:t>
            </a:r>
            <a:br>
              <a:rPr lang="en-US" dirty="0">
                <a:latin typeface="Arial Narrow" panose="020B0606020202030204" pitchFamily="34" charset="0"/>
              </a:rPr>
            </a:br>
            <a:r>
              <a:rPr lang="en-US" dirty="0">
                <a:latin typeface="Arial Narrow" panose="020B0606020202030204" pitchFamily="34" charset="0"/>
              </a:rPr>
              <a:t> </a:t>
            </a:r>
            <a:endParaRPr lang="en-IN"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Register Number:</a:t>
            </a:r>
            <a:r>
              <a:rPr lang="en-US" b="1" dirty="0">
                <a:latin typeface="Arial Narrow" panose="020B0606020202030204" pitchFamily="34" charset="0"/>
              </a:rPr>
              <a:t>23MSP3068</a:t>
            </a:r>
          </a:p>
          <a:p>
            <a:pPr algn="r"/>
            <a:r>
              <a:rPr lang="en-US" dirty="0">
                <a:latin typeface="Arial Narrow" panose="020B0606020202030204" pitchFamily="34" charset="0"/>
              </a:rPr>
              <a:t>Name: </a:t>
            </a:r>
            <a:r>
              <a:rPr lang="en-US" b="1" dirty="0">
                <a:latin typeface="Arial Narrow" panose="020B0606020202030204" pitchFamily="34" charset="0"/>
              </a:rPr>
              <a:t>Dharshani A</a:t>
            </a:r>
          </a:p>
          <a:p>
            <a:pPr algn="r"/>
            <a:r>
              <a:rPr lang="en-US" dirty="0">
                <a:latin typeface="Arial Narrow" panose="020B0606020202030204" pitchFamily="34" charset="0"/>
              </a:rPr>
              <a:t>Date: </a:t>
            </a:r>
            <a:r>
              <a:rPr lang="en-US" b="1" dirty="0">
                <a:latin typeface="Arial Narrow" panose="020B0606020202030204" pitchFamily="34" charset="0"/>
              </a:rPr>
              <a:t>01/03/2024</a:t>
            </a:r>
            <a:endParaRPr lang="en-IN" b="1"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Final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latin typeface="Arial Narrow" panose="020B0606020202030204" pitchFamily="34" charset="0"/>
              </a:rPr>
              <a:t>CS7510</a:t>
            </a:r>
          </a:p>
          <a:p>
            <a:r>
              <a:rPr lang="en-US" b="1" dirty="0">
                <a:latin typeface="Arial Narrow" panose="020B0606020202030204" pitchFamily="34" charset="0"/>
              </a:rPr>
              <a:t>Course Title:  </a:t>
            </a:r>
            <a:r>
              <a:rPr lang="en-US" dirty="0">
                <a:latin typeface="Arial Narrow" panose="020B0606020202030204" pitchFamily="34" charset="0"/>
              </a:rPr>
              <a:t>Project 2</a:t>
            </a:r>
            <a:endParaRPr lang="en-IN" dirty="0">
              <a:latin typeface="Arial Narrow" panose="020B0606020202030204" pitchFamily="34" charset="0"/>
            </a:endParaRPr>
          </a:p>
        </p:txBody>
      </p:sp>
      <p:sp>
        <p:nvSpPr>
          <p:cNvPr id="7" name="Footer Placeholder 6"/>
          <p:cNvSpPr>
            <a:spLocks noGrp="1"/>
          </p:cNvSpPr>
          <p:nvPr>
            <p:ph type="ftr" sz="quarter" idx="11"/>
          </p:nvPr>
        </p:nvSpPr>
        <p:spPr/>
        <p:txBody>
          <a:bodyPr/>
          <a:lstStyle/>
          <a:p>
            <a:r>
              <a:rPr lang="en-IN" b="1">
                <a:latin typeface="Arial Narrow" panose="020B0606020202030204" pitchFamily="34" charset="0"/>
              </a:rPr>
              <a:t>CS7501 Project 2 , PGP, ICER, VIT Bangalore</a:t>
            </a:r>
            <a:endParaRPr lang="en-IN" b="1" dirty="0">
              <a:latin typeface="Arial Narrow" panose="020B0606020202030204" pitchFamily="34" charset="0"/>
            </a:endParaRP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Abstract</a:t>
            </a:r>
            <a:endParaRPr lang="en-IN" b="1" dirty="0">
              <a:latin typeface="Arial Narrow" panose="020B0606020202030204" pitchFamily="34" charset="0"/>
            </a:endParaRPr>
          </a:p>
        </p:txBody>
      </p:sp>
      <p:sp>
        <p:nvSpPr>
          <p:cNvPr id="3" name="Content Placeholder 2"/>
          <p:cNvSpPr>
            <a:spLocks noGrp="1"/>
          </p:cNvSpPr>
          <p:nvPr>
            <p:ph idx="1"/>
          </p:nvPr>
        </p:nvSpPr>
        <p:spPr>
          <a:xfrm>
            <a:off x="203200" y="1229360"/>
            <a:ext cx="11785600" cy="5126990"/>
          </a:xfrm>
        </p:spPr>
        <p:txBody>
          <a:bodyPr>
            <a:noAutofit/>
          </a:bodyPr>
          <a:lstStyle/>
          <a:p>
            <a:pPr marL="0" indent="0">
              <a:buNone/>
            </a:pPr>
            <a:r>
              <a:rPr lang="en-US" sz="1800" dirty="0">
                <a:latin typeface="+mj-lt"/>
              </a:rPr>
              <a:t>Facial recognition technology harnesses deep learning algorithms to identify and verify individuals, presenting a crucial tool in security, personalization, and other applications. However, the effectiveness of these algorithms varies significantly based on their design and the specific tasks they are applied to.</a:t>
            </a:r>
          </a:p>
          <a:p>
            <a:pPr marL="0" indent="0">
              <a:buNone/>
            </a:pPr>
            <a:r>
              <a:rPr lang="en-US" sz="1800" dirty="0">
                <a:latin typeface="+mj-lt"/>
              </a:rPr>
              <a:t>This study aims to explore the development and evaluation of deep learning models for facial recognition tasks, focusing on their capability to accurately identify and verify individual faces within diverse datasets.</a:t>
            </a:r>
          </a:p>
          <a:p>
            <a:pPr marL="0" indent="0">
              <a:buNone/>
            </a:pPr>
            <a:r>
              <a:rPr lang="en-US" sz="1800" dirty="0">
                <a:latin typeface="+mj-lt"/>
              </a:rPr>
              <a:t>Three distinct deep learning models were </a:t>
            </a:r>
            <a:r>
              <a:rPr lang="en-US" sz="1800" dirty="0" err="1">
                <a:latin typeface="+mj-lt"/>
              </a:rPr>
              <a:t>analysed</a:t>
            </a:r>
            <a:r>
              <a:rPr lang="en-US" sz="1800" dirty="0">
                <a:latin typeface="+mj-lt"/>
              </a:rPr>
              <a:t>, each employing unique methodologies and documented in separate notebooks. These included Convolutional Neural Networks (CNNs) for direct facial recognition, VGG16-based models for classifying images of BTS members, and custom models for image similarity verification.</a:t>
            </a:r>
          </a:p>
          <a:p>
            <a:pPr marL="0" indent="0">
              <a:buNone/>
            </a:pPr>
            <a:r>
              <a:rPr lang="en-US" sz="1800" dirty="0">
                <a:latin typeface="+mj-lt"/>
              </a:rPr>
              <a:t>The CNN-based model demonstrated moderate success in facial recognition with an accuracy of approximately 71.93%. In contrast, the VGG16-based model, despite its focus on the nuanced task of classifying BTS member images, struggled significantly, achieving only 15% accuracy. The model designed for image similarity verification, utilizing feature extraction and similarity scoring, performed near-randomly with an accuracy close to 49%.</a:t>
            </a:r>
          </a:p>
          <a:p>
            <a:pPr marL="0" indent="0">
              <a:buNone/>
            </a:pPr>
            <a:r>
              <a:rPr lang="en-US" sz="1800" dirty="0">
                <a:latin typeface="+mj-lt"/>
              </a:rPr>
              <a:t>The study's findings illuminate the diverse challenges and complexities inherent in designing deep learning models for facial recognition tasks. The varying levels of success across models underscore the necessity for ongoing research, model refinement, and the exploration of innovative approaches to improve accuracy and reliability.</a:t>
            </a:r>
          </a:p>
          <a:p>
            <a:pPr marL="0" indent="0">
              <a:buNone/>
            </a:pPr>
            <a:endParaRPr lang="en-US" sz="1800" dirty="0">
              <a:latin typeface="+mj-lt"/>
            </a:endParaRPr>
          </a:p>
          <a:p>
            <a:pPr marL="0" indent="0">
              <a:buNone/>
            </a:pPr>
            <a:r>
              <a:rPr lang="en-US" sz="1800" dirty="0">
                <a:latin typeface="+mj-lt"/>
              </a:rPr>
              <a:t>Keywords: Deep Learning, Facial Recognition, Convolutional Neural Networks, VGG16, Image Similarity, Model Evaluation, Feature Extraction, Machine Learning.</a:t>
            </a: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93000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Introduction</a:t>
            </a:r>
            <a:endParaRPr lang="en-IN" dirty="0">
              <a:latin typeface="Arial Narrow" panose="020B0606020202030204" pitchFamily="34" charset="0"/>
            </a:endParaRPr>
          </a:p>
        </p:txBody>
      </p:sp>
      <p:sp>
        <p:nvSpPr>
          <p:cNvPr id="3" name="Content Placeholder 2"/>
          <p:cNvSpPr>
            <a:spLocks noGrp="1"/>
          </p:cNvSpPr>
          <p:nvPr>
            <p:ph idx="1"/>
          </p:nvPr>
        </p:nvSpPr>
        <p:spPr>
          <a:xfrm>
            <a:off x="457200" y="1229360"/>
            <a:ext cx="11247120" cy="5126989"/>
          </a:xfrm>
        </p:spPr>
        <p:txBody>
          <a:bodyPr>
            <a:normAutofit fontScale="77500" lnSpcReduction="20000"/>
          </a:bodyPr>
          <a:lstStyle/>
          <a:p>
            <a:pPr algn="just">
              <a:buFont typeface="Wingdings" panose="05000000000000000000" pitchFamily="2" charset="2"/>
              <a:buChar char="§"/>
            </a:pPr>
            <a:r>
              <a:rPr lang="en-US" dirty="0">
                <a:latin typeface="+mj-lt"/>
              </a:rPr>
              <a:t>In the realm of access control systems, the quest for secure, efficient, and user-friendly solutions continues to drive innovation. </a:t>
            </a:r>
          </a:p>
          <a:p>
            <a:pPr algn="just">
              <a:buFont typeface="Wingdings" panose="05000000000000000000" pitchFamily="2" charset="2"/>
              <a:buChar char="§"/>
            </a:pPr>
            <a:r>
              <a:rPr lang="en-US" dirty="0">
                <a:latin typeface="+mj-lt"/>
              </a:rPr>
              <a:t>Traditional methods, such as keycards and PIN codes, while prevalent, are not without their limitations, often susceptible to theft, loss, or unauthorized duplication. </a:t>
            </a:r>
          </a:p>
          <a:p>
            <a:pPr algn="just">
              <a:buFont typeface="Wingdings" panose="05000000000000000000" pitchFamily="2" charset="2"/>
              <a:buChar char="§"/>
            </a:pPr>
            <a:r>
              <a:rPr lang="en-US" dirty="0">
                <a:latin typeface="+mj-lt"/>
              </a:rPr>
              <a:t>Biometric alternatives, particularly facial recognition technology, offer a promising avenue for overcoming these challenges. </a:t>
            </a:r>
          </a:p>
          <a:p>
            <a:pPr algn="just">
              <a:buFont typeface="Wingdings" panose="05000000000000000000" pitchFamily="2" charset="2"/>
              <a:buChar char="§"/>
            </a:pPr>
            <a:r>
              <a:rPr lang="en-US" dirty="0">
                <a:latin typeface="+mj-lt"/>
              </a:rPr>
              <a:t>However, the widespread adoption of facial recognition systems has been hindered by their limited performance in diverse environmental conditions and susceptibility to spoofing attacks. </a:t>
            </a:r>
          </a:p>
          <a:p>
            <a:pPr algn="just">
              <a:buFont typeface="Wingdings" panose="05000000000000000000" pitchFamily="2" charset="2"/>
              <a:buChar char="§"/>
            </a:pPr>
            <a:r>
              <a:rPr lang="en-US" dirty="0">
                <a:latin typeface="+mj-lt"/>
              </a:rPr>
              <a:t>To address these issues, this project seeks to develop a robust facial recognition system tailored for biometric building access. </a:t>
            </a:r>
          </a:p>
          <a:p>
            <a:pPr algn="just">
              <a:buFont typeface="Wingdings" panose="05000000000000000000" pitchFamily="2" charset="2"/>
              <a:buChar char="§"/>
            </a:pPr>
            <a:r>
              <a:rPr lang="en-US" dirty="0">
                <a:latin typeface="+mj-lt"/>
              </a:rPr>
              <a:t>By leveraging convolutional neural networks (CNNs) and exploring advanced techniques like Siamese networks, we aim to enhance accuracy, speed, and security in facial recognition. </a:t>
            </a:r>
          </a:p>
          <a:p>
            <a:pPr algn="just">
              <a:buFont typeface="Wingdings" panose="05000000000000000000" pitchFamily="2" charset="2"/>
              <a:buChar char="§"/>
            </a:pPr>
            <a:r>
              <a:rPr lang="en-US" dirty="0">
                <a:latin typeface="+mj-lt"/>
              </a:rPr>
              <a:t>Our approach involves comprehensive data collection, preprocessing, model training, and evaluation, with a focus on real-world applicability and scalability. </a:t>
            </a:r>
          </a:p>
          <a:p>
            <a:pPr algn="just">
              <a:buFont typeface="Wingdings" panose="05000000000000000000" pitchFamily="2" charset="2"/>
              <a:buChar char="§"/>
            </a:pPr>
            <a:r>
              <a:rPr lang="en-US" dirty="0">
                <a:latin typeface="+mj-lt"/>
              </a:rPr>
              <a:t>Through this endeavor, we anticipate making significant contributions to the field of access control systems, offering an innovative solution that addresses key challenges and paves the way for enhanced security and convenience in various domains.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25653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Need of study</a:t>
            </a:r>
            <a:endParaRPr lang="en-IN" b="1" dirty="0">
              <a:latin typeface="Arial Narrow" panose="020B0606020202030204" pitchFamily="34" charset="0"/>
            </a:endParaRPr>
          </a:p>
        </p:txBody>
      </p:sp>
      <p:sp>
        <p:nvSpPr>
          <p:cNvPr id="3" name="Content Placeholder 2"/>
          <p:cNvSpPr>
            <a:spLocks noGrp="1"/>
          </p:cNvSpPr>
          <p:nvPr>
            <p:ph idx="1"/>
          </p:nvPr>
        </p:nvSpPr>
        <p:spPr>
          <a:xfrm>
            <a:off x="426720" y="1343818"/>
            <a:ext cx="11338560" cy="5334000"/>
          </a:xfrm>
        </p:spPr>
        <p:txBody>
          <a:bodyPr/>
          <a:lstStyle/>
          <a:p>
            <a:pPr marL="0" indent="0">
              <a:buNone/>
            </a:pPr>
            <a:r>
              <a:rPr lang="en-US" dirty="0">
                <a:latin typeface="+mj-lt"/>
              </a:rPr>
              <a:t>1. Ensure accurate recognition across varied conditions (e.g., lighting, appearance changes) for reliable access control.</a:t>
            </a:r>
          </a:p>
          <a:p>
            <a:pPr marL="0" indent="0">
              <a:buNone/>
            </a:pPr>
            <a:r>
              <a:rPr lang="en-US" dirty="0">
                <a:latin typeface="+mj-lt"/>
              </a:rPr>
              <a:t>2. Develop rapid and efficient recognition methods to minimize entry delays and enhance user experience.</a:t>
            </a:r>
          </a:p>
          <a:p>
            <a:pPr marL="0" indent="0">
              <a:buNone/>
            </a:pPr>
            <a:r>
              <a:rPr lang="en-US" dirty="0">
                <a:latin typeface="+mj-lt"/>
              </a:rPr>
              <a:t>3. Implement robust security measures to counter spoofing attempts, safeguarding against unauthorized access.</a:t>
            </a:r>
          </a:p>
          <a:p>
            <a:pPr marL="0" indent="0">
              <a:buNone/>
            </a:pPr>
            <a:r>
              <a:rPr lang="en-US" dirty="0">
                <a:latin typeface="+mj-lt"/>
              </a:rPr>
              <a:t>4. Address privacy concerns by prioritizing data protection and ensuring user consent in facial recognition systems.</a:t>
            </a:r>
          </a:p>
          <a:p>
            <a:pPr marL="0" indent="0">
              <a:buNone/>
            </a:pPr>
            <a:r>
              <a:rPr lang="en-US" dirty="0">
                <a:latin typeface="+mj-lt"/>
              </a:rPr>
              <a:t>5. Facilitate seamless integration with existing access control infrastructure for easy adoption and scalability.</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88425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a:xfrm>
            <a:off x="284480" y="1325562"/>
            <a:ext cx="11765280" cy="5030787"/>
          </a:xfrm>
        </p:spPr>
        <p:txBody>
          <a:bodyPr/>
          <a:lstStyle/>
          <a:p>
            <a:r>
              <a:rPr lang="en-US" dirty="0">
                <a:latin typeface="+mj-lt"/>
              </a:rPr>
              <a:t>Modern urban settings require secure, efficient, and non-intrusive access control systems.</a:t>
            </a:r>
          </a:p>
          <a:p>
            <a:r>
              <a:rPr lang="en-US" dirty="0">
                <a:latin typeface="+mj-lt"/>
              </a:rPr>
              <a:t>Traditional access methods like keys, cards, and PINs can be lost, stolen, or forgotten, compromising security and convenience.</a:t>
            </a:r>
          </a:p>
          <a:p>
            <a:r>
              <a:rPr lang="en-US" dirty="0">
                <a:latin typeface="+mj-lt"/>
              </a:rPr>
              <a:t>Facial recognition offers a promising keyless and personalized alternative for access control.</a:t>
            </a:r>
          </a:p>
          <a:p>
            <a:r>
              <a:rPr lang="en-US" dirty="0">
                <a:latin typeface="+mj-lt"/>
              </a:rPr>
              <a:t>Achieving consistent accuracy and reliability in varied conditions (lighting, angles, facial changes) is a significant challenge.</a:t>
            </a:r>
          </a:p>
          <a:p>
            <a:r>
              <a:rPr lang="en-US" dirty="0">
                <a:latin typeface="+mj-lt"/>
              </a:rPr>
              <a:t>The project aims to develop a facial recognition system for building access, focusing on enhanced accuracy, speed, and robustness against environmental variations and spoofing attempts.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2898404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Objectives</a:t>
            </a:r>
            <a:endParaRPr lang="en-IN" b="1" dirty="0">
              <a:latin typeface="Arial Narrow" panose="020B0606020202030204" pitchFamily="34" charset="0"/>
            </a:endParaRPr>
          </a:p>
        </p:txBody>
      </p:sp>
      <p:sp>
        <p:nvSpPr>
          <p:cNvPr id="3" name="Content Placeholder 2"/>
          <p:cNvSpPr>
            <a:spLocks noGrp="1"/>
          </p:cNvSpPr>
          <p:nvPr>
            <p:ph idx="1"/>
          </p:nvPr>
        </p:nvSpPr>
        <p:spPr>
          <a:xfrm>
            <a:off x="441960" y="1066800"/>
            <a:ext cx="11308080" cy="5654675"/>
          </a:xfrm>
        </p:spPr>
        <p:txBody>
          <a:bodyPr>
            <a:normAutofit/>
          </a:bodyPr>
          <a:lstStyle/>
          <a:p>
            <a:pPr marL="457200" marR="48895" indent="-457200" algn="just">
              <a:lnSpc>
                <a:spcPct val="150000"/>
              </a:lnSpc>
              <a:spcBef>
                <a:spcPts val="1200"/>
              </a:spcBef>
              <a:spcAft>
                <a:spcPts val="800"/>
              </a:spcAft>
              <a:buFont typeface="+mj-lt"/>
              <a:buAutoNum type="arabicPeriod"/>
            </a:pPr>
            <a:r>
              <a:rPr lang="en-US" sz="1900" spc="10" dirty="0">
                <a:effectLst/>
                <a:latin typeface="+mj-lt"/>
                <a:ea typeface="Segoe UI" panose="020B0502040204020203" pitchFamily="34" charset="0"/>
                <a:cs typeface="Times New Roman" panose="02020603050405020304" pitchFamily="18" charset="0"/>
              </a:rPr>
              <a:t>To evaluate the performance of Convolutional Neural Networks (CNNs) and Siamese networks in facial recognition to determine their accuracy and reliability across varied datasets.</a:t>
            </a:r>
            <a:endParaRPr lang="en-IN" sz="1900" dirty="0">
              <a:effectLst/>
              <a:latin typeface="+mj-lt"/>
              <a:ea typeface="Calibri" panose="020F0502020204030204" pitchFamily="34" charset="0"/>
              <a:cs typeface="Times New Roman" panose="02020603050405020304" pitchFamily="18" charset="0"/>
            </a:endParaRPr>
          </a:p>
          <a:p>
            <a:pPr marL="457200" marR="48895" indent="-457200" algn="just">
              <a:lnSpc>
                <a:spcPct val="150000"/>
              </a:lnSpc>
              <a:spcBef>
                <a:spcPts val="1200"/>
              </a:spcBef>
              <a:spcAft>
                <a:spcPts val="800"/>
              </a:spcAft>
              <a:buFont typeface="+mj-lt"/>
              <a:buAutoNum type="arabicPeriod"/>
            </a:pPr>
            <a:r>
              <a:rPr lang="en-US" sz="1900" spc="10" dirty="0">
                <a:effectLst/>
                <a:latin typeface="+mj-lt"/>
                <a:ea typeface="Segoe UI" panose="020B0502040204020203" pitchFamily="34" charset="0"/>
                <a:cs typeface="Times New Roman" panose="02020603050405020304" pitchFamily="18" charset="0"/>
              </a:rPr>
              <a:t>To assess the robustness of Siamese networks in learning facial features, and their effectiveness in verification tasks with the implementation of attention mechanisms.</a:t>
            </a:r>
            <a:endParaRPr lang="en-IN" sz="1900" dirty="0">
              <a:effectLst/>
              <a:latin typeface="+mj-lt"/>
              <a:ea typeface="Calibri" panose="020F0502020204030204" pitchFamily="34" charset="0"/>
              <a:cs typeface="Times New Roman" panose="02020603050405020304" pitchFamily="18" charset="0"/>
            </a:endParaRPr>
          </a:p>
          <a:p>
            <a:pPr marL="457200" marR="48895" indent="-457200" algn="just">
              <a:lnSpc>
                <a:spcPct val="150000"/>
              </a:lnSpc>
              <a:spcBef>
                <a:spcPts val="1200"/>
              </a:spcBef>
              <a:spcAft>
                <a:spcPts val="800"/>
              </a:spcAft>
              <a:buFont typeface="+mj-lt"/>
              <a:buAutoNum type="arabicPeriod"/>
            </a:pPr>
            <a:r>
              <a:rPr lang="en-US" sz="1900" spc="10" dirty="0">
                <a:effectLst/>
                <a:latin typeface="+mj-lt"/>
                <a:ea typeface="Segoe UI" panose="020B0502040204020203" pitchFamily="34" charset="0"/>
                <a:cs typeface="Times New Roman" panose="02020603050405020304" pitchFamily="18" charset="0"/>
              </a:rPr>
              <a:t>To explore the versatility of Siamese networks in recognizing complex relationships, such as kinship, and their potential integration with egocentric vision systems for enhanced object identification.</a:t>
            </a:r>
            <a:endParaRPr lang="en-IN" sz="1900" dirty="0">
              <a:effectLst/>
              <a:latin typeface="+mj-lt"/>
              <a:ea typeface="Calibri" panose="020F0502020204030204" pitchFamily="34" charset="0"/>
              <a:cs typeface="Times New Roman" panose="02020603050405020304" pitchFamily="18" charset="0"/>
            </a:endParaRPr>
          </a:p>
          <a:p>
            <a:pPr marL="457200" marR="48895" indent="-457200" algn="just">
              <a:lnSpc>
                <a:spcPct val="150000"/>
              </a:lnSpc>
              <a:spcBef>
                <a:spcPts val="1200"/>
              </a:spcBef>
              <a:spcAft>
                <a:spcPts val="800"/>
              </a:spcAft>
              <a:buFont typeface="+mj-lt"/>
              <a:buAutoNum type="arabicPeriod"/>
            </a:pPr>
            <a:r>
              <a:rPr lang="en-US" sz="1900" spc="10" dirty="0">
                <a:effectLst/>
                <a:latin typeface="+mj-lt"/>
                <a:ea typeface="Segoe UI" panose="020B0502040204020203" pitchFamily="34" charset="0"/>
                <a:cs typeface="Times New Roman" panose="02020603050405020304" pitchFamily="18" charset="0"/>
              </a:rPr>
              <a:t>To identify and bridge gaps in the literature concerning the application of Siamese networks in challenging environments, focusing on issues like partial occlusion and diverse lighting conditions.</a:t>
            </a:r>
            <a:endParaRPr lang="en-IN" sz="1900" dirty="0">
              <a:effectLst/>
              <a:latin typeface="+mj-lt"/>
              <a:ea typeface="Calibri" panose="020F0502020204030204" pitchFamily="34" charset="0"/>
              <a:cs typeface="Times New Roman" panose="02020603050405020304" pitchFamily="18" charset="0"/>
            </a:endParaRPr>
          </a:p>
          <a:p>
            <a:pPr marL="457200" marR="48895" indent="-457200" algn="just">
              <a:lnSpc>
                <a:spcPct val="150000"/>
              </a:lnSpc>
              <a:spcBef>
                <a:spcPts val="1200"/>
              </a:spcBef>
              <a:spcAft>
                <a:spcPts val="800"/>
              </a:spcAft>
              <a:buFont typeface="+mj-lt"/>
              <a:buAutoNum type="arabicPeriod"/>
            </a:pPr>
            <a:r>
              <a:rPr lang="en-US" sz="1900" spc="10" dirty="0">
                <a:effectLst/>
                <a:latin typeface="+mj-lt"/>
                <a:ea typeface="Segoe UI" panose="020B0502040204020203" pitchFamily="34" charset="0"/>
                <a:cs typeface="Times New Roman" panose="02020603050405020304" pitchFamily="18" charset="0"/>
              </a:rPr>
              <a:t>To contribute innovative solutions for the advancement of facial recognition technology by developing models that are more adaptable, interpretable, and effective in real-world scenarios.</a:t>
            </a:r>
            <a:endParaRPr lang="en-IN" sz="1900" dirty="0">
              <a:effectLst/>
              <a:latin typeface="+mj-lt"/>
              <a:ea typeface="Calibri" panose="020F0502020204030204" pitchFamily="34"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spTree>
    <p:extLst>
      <p:ext uri="{BB962C8B-B14F-4D97-AF65-F5344CB8AC3E}">
        <p14:creationId xmlns:p14="http://schemas.microsoft.com/office/powerpoint/2010/main" val="935722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IN" b="1" dirty="0">
                <a:latin typeface="Arial Narrow" panose="020B0606020202030204" pitchFamily="34" charset="0"/>
              </a:rPr>
              <a:t>Related Work</a:t>
            </a:r>
            <a:endParaRPr lang="en-IN" dirty="0">
              <a:latin typeface="Arial Narrow" panose="020B0606020202030204" pitchFamily="34" charset="0"/>
            </a:endParaRPr>
          </a:p>
        </p:txBody>
      </p:sp>
      <p:sp>
        <p:nvSpPr>
          <p:cNvPr id="3" name="Content Placeholder 2"/>
          <p:cNvSpPr>
            <a:spLocks noGrp="1"/>
          </p:cNvSpPr>
          <p:nvPr>
            <p:ph idx="1"/>
          </p:nvPr>
        </p:nvSpPr>
        <p:spPr>
          <a:xfrm>
            <a:off x="406400" y="1325564"/>
            <a:ext cx="11643360" cy="5030786"/>
          </a:xfrm>
        </p:spPr>
        <p:txBody>
          <a:bodyPr>
            <a:normAutofit/>
          </a:bodyPr>
          <a:lstStyle/>
          <a:p>
            <a:pPr algn="just"/>
            <a:r>
              <a:rPr lang="en-US" dirty="0">
                <a:latin typeface="+mj-lt"/>
              </a:rPr>
              <a:t>Research explores Siamese neural networks for face recognition and kinship verification.</a:t>
            </a:r>
          </a:p>
          <a:p>
            <a:pPr algn="just"/>
            <a:r>
              <a:rPr lang="en-US" dirty="0">
                <a:latin typeface="+mj-lt"/>
              </a:rPr>
              <a:t>Transfer learning, </a:t>
            </a:r>
            <a:r>
              <a:rPr lang="en-US" dirty="0" err="1">
                <a:latin typeface="+mj-lt"/>
              </a:rPr>
              <a:t>ResNet</a:t>
            </a:r>
            <a:r>
              <a:rPr lang="en-US" dirty="0">
                <a:latin typeface="+mj-lt"/>
              </a:rPr>
              <a:t>, and </a:t>
            </a:r>
            <a:r>
              <a:rPr lang="en-US" dirty="0" err="1">
                <a:latin typeface="+mj-lt"/>
              </a:rPr>
              <a:t>VGGNet</a:t>
            </a:r>
            <a:r>
              <a:rPr lang="en-US" dirty="0">
                <a:latin typeface="+mj-lt"/>
              </a:rPr>
              <a:t> architectures are key techniques utilized.</a:t>
            </a:r>
          </a:p>
          <a:p>
            <a:pPr algn="just"/>
            <a:r>
              <a:rPr lang="en-US" dirty="0">
                <a:latin typeface="+mj-lt"/>
              </a:rPr>
              <a:t>These studies highlight the networks' versatility in biometric verification and security enhancement.</a:t>
            </a:r>
          </a:p>
          <a:p>
            <a:pPr algn="just"/>
            <a:r>
              <a:rPr lang="en-US" dirty="0">
                <a:latin typeface="+mj-lt"/>
              </a:rPr>
              <a:t>The collective progress indicates a unified approach towards addressing complex biometric and deep learning challenges.</a:t>
            </a:r>
          </a:p>
          <a:p>
            <a:pPr algn="just"/>
            <a:r>
              <a:rPr lang="en-US" dirty="0">
                <a:latin typeface="+mj-lt"/>
              </a:rPr>
              <a:t>Each piece of research contributes to advancing identification methods and relationship analysis, facilitating security and social analytical applications.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7</a:t>
            </a:fld>
            <a:endParaRPr lang="en-IN"/>
          </a:p>
        </p:txBody>
      </p:sp>
    </p:spTree>
    <p:extLst>
      <p:ext uri="{BB962C8B-B14F-4D97-AF65-F5344CB8AC3E}">
        <p14:creationId xmlns:p14="http://schemas.microsoft.com/office/powerpoint/2010/main" val="130640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133"/>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8</a:t>
            </a:fld>
            <a:endParaRPr lang="en-IN"/>
          </a:p>
        </p:txBody>
      </p:sp>
      <p:pic>
        <p:nvPicPr>
          <p:cNvPr id="7" name="Picture 6">
            <a:extLst>
              <a:ext uri="{FF2B5EF4-FFF2-40B4-BE49-F238E27FC236}">
                <a16:creationId xmlns:a16="http://schemas.microsoft.com/office/drawing/2014/main" id="{CBB605EE-E0B6-7C7C-72BD-0BD26043CB36}"/>
              </a:ext>
            </a:extLst>
          </p:cNvPr>
          <p:cNvPicPr>
            <a:picLocks noChangeAspect="1"/>
          </p:cNvPicPr>
          <p:nvPr/>
        </p:nvPicPr>
        <p:blipFill>
          <a:blip r:embed="rId2"/>
          <a:stretch>
            <a:fillRect/>
          </a:stretch>
        </p:blipFill>
        <p:spPr>
          <a:xfrm>
            <a:off x="1602993" y="815945"/>
            <a:ext cx="8986014" cy="5540405"/>
          </a:xfrm>
          <a:prstGeom prst="rect">
            <a:avLst/>
          </a:prstGeom>
        </p:spPr>
      </p:pic>
    </p:spTree>
    <p:extLst>
      <p:ext uri="{BB962C8B-B14F-4D97-AF65-F5344CB8AC3E}">
        <p14:creationId xmlns:p14="http://schemas.microsoft.com/office/powerpoint/2010/main" val="1125428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41D424-21F1-FBE2-81D9-93A1F15C9C08}"/>
              </a:ext>
            </a:extLst>
          </p:cNvPr>
          <p:cNvSpPr>
            <a:spLocks noGrp="1"/>
          </p:cNvSpPr>
          <p:nvPr>
            <p:ph idx="1"/>
          </p:nvPr>
        </p:nvSpPr>
        <p:spPr>
          <a:xfrm>
            <a:off x="233680" y="1022032"/>
            <a:ext cx="11724640" cy="5516880"/>
          </a:xfrm>
        </p:spPr>
        <p:txBody>
          <a:bodyPr>
            <a:normAutofit fontScale="62500" lnSpcReduction="20000"/>
          </a:bodyPr>
          <a:lstStyle/>
          <a:p>
            <a:pPr marL="0" indent="0" algn="l">
              <a:buNone/>
            </a:pPr>
            <a:r>
              <a:rPr lang="en-US" b="1" i="0" dirty="0">
                <a:effectLst/>
                <a:latin typeface="+mj-lt"/>
              </a:rPr>
              <a:t>Problem Identification:</a:t>
            </a:r>
          </a:p>
          <a:p>
            <a:pPr marL="0" indent="0" algn="l">
              <a:buNone/>
            </a:pPr>
            <a:r>
              <a:rPr lang="en-US" i="0" dirty="0">
                <a:effectLst/>
                <a:latin typeface="+mj-lt"/>
              </a:rPr>
              <a:t>Identify challenges in facial recognition, including lighting, angle, and expression variations. Define research goals to address these challenges.</a:t>
            </a:r>
          </a:p>
          <a:p>
            <a:pPr marL="0" indent="0" algn="l">
              <a:buNone/>
            </a:pPr>
            <a:endParaRPr lang="en-US" i="0" dirty="0">
              <a:effectLst/>
              <a:latin typeface="+mj-lt"/>
            </a:endParaRPr>
          </a:p>
          <a:p>
            <a:pPr marL="0" indent="0" algn="l">
              <a:buNone/>
            </a:pPr>
            <a:r>
              <a:rPr lang="en-US" b="1" i="0" dirty="0">
                <a:effectLst/>
                <a:latin typeface="+mj-lt"/>
              </a:rPr>
              <a:t>Data Collection:</a:t>
            </a:r>
          </a:p>
          <a:p>
            <a:pPr marL="0" indent="0" algn="l">
              <a:buNone/>
            </a:pPr>
            <a:r>
              <a:rPr lang="en-US" i="0" dirty="0">
                <a:effectLst/>
                <a:latin typeface="+mj-lt"/>
              </a:rPr>
              <a:t>Collect a diverse dataset of facial images from various sources to ensure variability in lighting, angles, and expressions. Ensure the dataset represents real-world scenarios.</a:t>
            </a:r>
          </a:p>
          <a:p>
            <a:pPr marL="0" indent="0" algn="l">
              <a:buNone/>
            </a:pPr>
            <a:endParaRPr lang="en-US" i="0" dirty="0">
              <a:effectLst/>
              <a:latin typeface="+mj-lt"/>
            </a:endParaRPr>
          </a:p>
          <a:p>
            <a:pPr marL="0" indent="0" algn="l">
              <a:buNone/>
            </a:pPr>
            <a:r>
              <a:rPr lang="en-US" b="1" i="0" dirty="0">
                <a:effectLst/>
                <a:latin typeface="+mj-lt"/>
              </a:rPr>
              <a:t>Data Preprocessing:</a:t>
            </a:r>
          </a:p>
          <a:p>
            <a:pPr marL="0" indent="0" algn="l">
              <a:buNone/>
            </a:pPr>
            <a:r>
              <a:rPr lang="en-US" i="0" dirty="0">
                <a:effectLst/>
                <a:latin typeface="+mj-lt"/>
              </a:rPr>
              <a:t>Implement preprocessing steps like normalization, resizing, and augmentation to standardize input data. These steps enhance model training effectiveness and robustness to variations.</a:t>
            </a:r>
          </a:p>
          <a:p>
            <a:pPr marL="0" indent="0" algn="l">
              <a:buNone/>
            </a:pPr>
            <a:endParaRPr lang="en-US" i="0" dirty="0">
              <a:effectLst/>
              <a:latin typeface="+mj-lt"/>
            </a:endParaRPr>
          </a:p>
          <a:p>
            <a:pPr marL="0" indent="0" algn="l">
              <a:buNone/>
            </a:pPr>
            <a:r>
              <a:rPr lang="en-US" b="1" i="0" dirty="0">
                <a:effectLst/>
                <a:latin typeface="+mj-lt"/>
              </a:rPr>
              <a:t>Dataset Splitting:</a:t>
            </a:r>
          </a:p>
          <a:p>
            <a:pPr marL="0" indent="0" algn="l">
              <a:buNone/>
            </a:pPr>
            <a:r>
              <a:rPr lang="en-US" i="0" dirty="0">
                <a:effectLst/>
                <a:latin typeface="+mj-lt"/>
              </a:rPr>
              <a:t>Divide collected data into training, validation, and test sets. This ensures proper evaluation and prevents overfitting during model training.</a:t>
            </a:r>
          </a:p>
          <a:p>
            <a:pPr marL="0" indent="0" algn="l">
              <a:buNone/>
            </a:pPr>
            <a:endParaRPr lang="en-US" i="0" dirty="0">
              <a:effectLst/>
              <a:latin typeface="+mj-lt"/>
            </a:endParaRPr>
          </a:p>
          <a:p>
            <a:pPr marL="0" indent="0" algn="l">
              <a:buNone/>
            </a:pPr>
            <a:r>
              <a:rPr lang="en-US" b="1" i="0" dirty="0">
                <a:effectLst/>
                <a:latin typeface="+mj-lt"/>
              </a:rPr>
              <a:t>CNN Architecture Design:</a:t>
            </a:r>
          </a:p>
          <a:p>
            <a:pPr marL="0" indent="0" algn="l">
              <a:buNone/>
            </a:pPr>
            <a:r>
              <a:rPr lang="en-US" i="0" dirty="0">
                <a:effectLst/>
                <a:latin typeface="+mj-lt"/>
              </a:rPr>
              <a:t>Design a Convolutional Neural Network (CNN) tailored for facial feature extraction. Experiment with different architectures to optimize performance.</a:t>
            </a: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endParaRPr lang="en-IN" dirty="0"/>
          </a:p>
        </p:txBody>
      </p:sp>
      <p:sp>
        <p:nvSpPr>
          <p:cNvPr id="4" name="Footer Placeholder 3">
            <a:extLst>
              <a:ext uri="{FF2B5EF4-FFF2-40B4-BE49-F238E27FC236}">
                <a16:creationId xmlns:a16="http://schemas.microsoft.com/office/drawing/2014/main" id="{FD814F61-6363-EF0E-07D6-03A48E5EEA0F}"/>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989AC4D1-8439-C258-F638-01F6D56B4490}"/>
              </a:ext>
            </a:extLst>
          </p:cNvPr>
          <p:cNvSpPr>
            <a:spLocks noGrp="1"/>
          </p:cNvSpPr>
          <p:nvPr>
            <p:ph type="sldNum" sz="quarter" idx="12"/>
          </p:nvPr>
        </p:nvSpPr>
        <p:spPr/>
        <p:txBody>
          <a:bodyPr/>
          <a:lstStyle/>
          <a:p>
            <a:fld id="{90EDC104-672A-4227-99C4-0E2CC007FDBA}" type="slidenum">
              <a:rPr lang="en-IN" smtClean="0"/>
              <a:t>9</a:t>
            </a:fld>
            <a:endParaRPr lang="en-IN"/>
          </a:p>
        </p:txBody>
      </p:sp>
      <p:sp>
        <p:nvSpPr>
          <p:cNvPr id="6" name="Title 1"/>
          <p:cNvSpPr>
            <a:spLocks noGrp="1"/>
          </p:cNvSpPr>
          <p:nvPr>
            <p:ph type="title"/>
          </p:nvPr>
        </p:nvSpPr>
        <p:spPr>
          <a:xfrm>
            <a:off x="838200" y="-161133"/>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Tree>
    <p:extLst>
      <p:ext uri="{BB962C8B-B14F-4D97-AF65-F5344CB8AC3E}">
        <p14:creationId xmlns:p14="http://schemas.microsoft.com/office/powerpoint/2010/main" val="1903929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12CFC-18AC-D1DC-70F6-E85DE017EB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5F9A20-7314-010A-11E7-B1577B8F8B98}"/>
              </a:ext>
            </a:extLst>
          </p:cNvPr>
          <p:cNvSpPr>
            <a:spLocks noGrp="1"/>
          </p:cNvSpPr>
          <p:nvPr>
            <p:ph idx="1"/>
          </p:nvPr>
        </p:nvSpPr>
        <p:spPr>
          <a:xfrm>
            <a:off x="233680" y="1351280"/>
            <a:ext cx="11724640" cy="4399280"/>
          </a:xfrm>
        </p:spPr>
        <p:txBody>
          <a:bodyPr>
            <a:normAutofit fontScale="62500" lnSpcReduction="20000"/>
          </a:bodyPr>
          <a:lstStyle/>
          <a:p>
            <a:pPr marL="0" indent="0" algn="l">
              <a:buNone/>
            </a:pPr>
            <a:r>
              <a:rPr lang="en-US" b="1" i="0" dirty="0">
                <a:effectLst/>
                <a:latin typeface="+mj-lt"/>
              </a:rPr>
              <a:t>Training and Evaluation:</a:t>
            </a:r>
          </a:p>
          <a:p>
            <a:pPr marL="0" indent="0" algn="l">
              <a:buNone/>
            </a:pPr>
            <a:r>
              <a:rPr lang="en-US" i="0" dirty="0">
                <a:effectLst/>
                <a:latin typeface="+mj-lt"/>
              </a:rPr>
              <a:t>Train the CNN model using the training data and evaluate its performance on the validation set. Adjust hyperparameters and model architecture as needed for better results.</a:t>
            </a:r>
          </a:p>
          <a:p>
            <a:pPr marL="0" indent="0" algn="l">
              <a:buNone/>
            </a:pPr>
            <a:endParaRPr lang="en-US" i="0" dirty="0">
              <a:effectLst/>
              <a:latin typeface="+mj-lt"/>
            </a:endParaRPr>
          </a:p>
          <a:p>
            <a:pPr marL="0" indent="0" algn="l">
              <a:buNone/>
            </a:pPr>
            <a:r>
              <a:rPr lang="en-US" b="1" i="0" dirty="0">
                <a:effectLst/>
                <a:latin typeface="+mj-lt"/>
              </a:rPr>
              <a:t>Model Refinement:</a:t>
            </a:r>
          </a:p>
          <a:p>
            <a:pPr marL="0" indent="0" algn="l">
              <a:buNone/>
            </a:pPr>
            <a:r>
              <a:rPr lang="en-US" i="0" dirty="0">
                <a:effectLst/>
                <a:latin typeface="+mj-lt"/>
              </a:rPr>
              <a:t>Optimize the CNN model based on evaluation results. Fine-tune parameters and layers to improve accuracy and generalization.</a:t>
            </a:r>
          </a:p>
          <a:p>
            <a:pPr marL="0" indent="0" algn="l">
              <a:buNone/>
            </a:pPr>
            <a:endParaRPr lang="en-US" i="0" dirty="0">
              <a:effectLst/>
              <a:latin typeface="+mj-lt"/>
            </a:endParaRPr>
          </a:p>
          <a:p>
            <a:pPr marL="0" indent="0" algn="l">
              <a:buNone/>
            </a:pPr>
            <a:r>
              <a:rPr lang="en-US" b="1" i="0" dirty="0">
                <a:effectLst/>
                <a:latin typeface="+mj-lt"/>
              </a:rPr>
              <a:t>Siamese Network Integration:</a:t>
            </a:r>
          </a:p>
          <a:p>
            <a:pPr marL="0" indent="0" algn="l">
              <a:buNone/>
            </a:pPr>
            <a:r>
              <a:rPr lang="en-US" i="0" dirty="0">
                <a:effectLst/>
                <a:latin typeface="+mj-lt"/>
              </a:rPr>
              <a:t>Integrate a Siamese network architecture to capture fine-grained differences between facial features. Test the integrated model and compare performance with the CNN.</a:t>
            </a:r>
          </a:p>
          <a:p>
            <a:pPr marL="0" indent="0" algn="l">
              <a:buNone/>
            </a:pPr>
            <a:endParaRPr lang="en-US" i="0" dirty="0">
              <a:effectLst/>
              <a:latin typeface="+mj-lt"/>
            </a:endParaRPr>
          </a:p>
          <a:p>
            <a:pPr marL="0" indent="0" algn="l">
              <a:buNone/>
            </a:pPr>
            <a:r>
              <a:rPr lang="en-US" b="1" i="0" dirty="0">
                <a:effectLst/>
                <a:latin typeface="+mj-lt"/>
              </a:rPr>
              <a:t>Deployment &amp; Feedback:</a:t>
            </a:r>
          </a:p>
          <a:p>
            <a:pPr marL="0" indent="0" algn="l">
              <a:buNone/>
            </a:pPr>
            <a:r>
              <a:rPr lang="en-US" i="0" dirty="0">
                <a:effectLst/>
                <a:latin typeface="+mj-lt"/>
              </a:rPr>
              <a:t>Deploy the facial recognition solution in real-world scenarios, such as biometric access control systems. Gather user feedback for further improvements and iterations.</a:t>
            </a:r>
          </a:p>
          <a:p>
            <a:pPr marL="0" indent="0" algn="l">
              <a:buNone/>
            </a:pPr>
            <a:endParaRPr lang="en-US" b="1" i="0" dirty="0">
              <a:effectLst/>
              <a:latin typeface="Söhne"/>
            </a:endParaRP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endParaRPr lang="en-IN" dirty="0"/>
          </a:p>
        </p:txBody>
      </p:sp>
      <p:sp>
        <p:nvSpPr>
          <p:cNvPr id="4" name="Footer Placeholder 3">
            <a:extLst>
              <a:ext uri="{FF2B5EF4-FFF2-40B4-BE49-F238E27FC236}">
                <a16:creationId xmlns:a16="http://schemas.microsoft.com/office/drawing/2014/main" id="{2654CA19-37C9-6979-EE98-FB226F10A47A}"/>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6BFE50E8-8CD4-4A46-536F-F827105C27DF}"/>
              </a:ext>
            </a:extLst>
          </p:cNvPr>
          <p:cNvSpPr>
            <a:spLocks noGrp="1"/>
          </p:cNvSpPr>
          <p:nvPr>
            <p:ph type="sldNum" sz="quarter" idx="12"/>
          </p:nvPr>
        </p:nvSpPr>
        <p:spPr/>
        <p:txBody>
          <a:bodyPr/>
          <a:lstStyle/>
          <a:p>
            <a:fld id="{90EDC104-672A-4227-99C4-0E2CC007FDBA}" type="slidenum">
              <a:rPr lang="en-IN" smtClean="0"/>
              <a:t>10</a:t>
            </a:fld>
            <a:endParaRPr lang="en-IN"/>
          </a:p>
        </p:txBody>
      </p:sp>
      <p:sp>
        <p:nvSpPr>
          <p:cNvPr id="6" name="Title 1">
            <a:extLst>
              <a:ext uri="{FF2B5EF4-FFF2-40B4-BE49-F238E27FC236}">
                <a16:creationId xmlns:a16="http://schemas.microsoft.com/office/drawing/2014/main" id="{C6B8D818-3ACD-A293-DD4C-B6B2E951C6B7}"/>
              </a:ext>
            </a:extLst>
          </p:cNvPr>
          <p:cNvSpPr>
            <a:spLocks noGrp="1"/>
          </p:cNvSpPr>
          <p:nvPr>
            <p:ph type="title"/>
          </p:nvPr>
        </p:nvSpPr>
        <p:spPr>
          <a:xfrm>
            <a:off x="838200" y="-161133"/>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Tree>
    <p:extLst>
      <p:ext uri="{BB962C8B-B14F-4D97-AF65-F5344CB8AC3E}">
        <p14:creationId xmlns:p14="http://schemas.microsoft.com/office/powerpoint/2010/main" val="1687846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442720"/>
            <a:ext cx="10515600" cy="4734243"/>
          </a:xfrm>
        </p:spPr>
        <p:txBody>
          <a:bodyPr>
            <a:normAutofit/>
          </a:bodyPr>
          <a:lstStyle/>
          <a:p>
            <a:r>
              <a:rPr lang="en-US" sz="3200" dirty="0">
                <a:latin typeface="+mj-lt"/>
              </a:rPr>
              <a:t>Source of the Dataset: @bts.bighitofficial on Instagram</a:t>
            </a:r>
          </a:p>
          <a:p>
            <a:r>
              <a:rPr lang="en-US" sz="3200" dirty="0">
                <a:latin typeface="+mj-lt"/>
              </a:rPr>
              <a:t>No. of Observations: 50 images * 7 members</a:t>
            </a:r>
          </a:p>
          <a:p>
            <a:r>
              <a:rPr lang="en-US" sz="3200" dirty="0">
                <a:latin typeface="+mj-lt"/>
              </a:rPr>
              <a:t>Total Observations after Augmentation: 16800 = 50*7*24*2</a:t>
            </a:r>
          </a:p>
        </p:txBody>
      </p:sp>
      <p:sp>
        <p:nvSpPr>
          <p:cNvPr id="5" name="Slide Number Placeholder 4"/>
          <p:cNvSpPr>
            <a:spLocks noGrp="1"/>
          </p:cNvSpPr>
          <p:nvPr>
            <p:ph type="sldNum" sz="quarter" idx="12"/>
          </p:nvPr>
        </p:nvSpPr>
        <p:spPr/>
        <p:txBody>
          <a:bodyPr/>
          <a:lstStyle/>
          <a:p>
            <a:fld id="{90EDC104-672A-4227-99C4-0E2CC007FDBA}" type="slidenum">
              <a:rPr lang="en-IN" smtClean="0"/>
              <a:t>11</a:t>
            </a:fld>
            <a:endParaRPr lang="en-IN" dirty="0"/>
          </a:p>
        </p:txBody>
      </p:sp>
      <p:pic>
        <p:nvPicPr>
          <p:cNvPr id="7" name="Picture 6">
            <a:extLst>
              <a:ext uri="{FF2B5EF4-FFF2-40B4-BE49-F238E27FC236}">
                <a16:creationId xmlns:a16="http://schemas.microsoft.com/office/drawing/2014/main" id="{D93AE114-EBBD-186E-77E0-71663A8CB759}"/>
              </a:ext>
            </a:extLst>
          </p:cNvPr>
          <p:cNvPicPr>
            <a:picLocks noChangeAspect="1"/>
          </p:cNvPicPr>
          <p:nvPr/>
        </p:nvPicPr>
        <p:blipFill>
          <a:blip r:embed="rId2"/>
          <a:stretch>
            <a:fillRect/>
          </a:stretch>
        </p:blipFill>
        <p:spPr>
          <a:xfrm>
            <a:off x="982980" y="3809841"/>
            <a:ext cx="10226039" cy="1761523"/>
          </a:xfrm>
          <a:prstGeom prst="rect">
            <a:avLst/>
          </a:prstGeom>
        </p:spPr>
      </p:pic>
    </p:spTree>
    <p:extLst>
      <p:ext uri="{BB962C8B-B14F-4D97-AF65-F5344CB8AC3E}">
        <p14:creationId xmlns:p14="http://schemas.microsoft.com/office/powerpoint/2010/main" val="2257328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dirty="0">
                <a:latin typeface="Arial Narrow" panose="020B0606020202030204" pitchFamily="34" charset="0"/>
              </a:rPr>
              <a:t>Exploratory Data Analysis </a:t>
            </a:r>
            <a:endParaRPr lang="en-IN" b="1" dirty="0">
              <a:latin typeface="Arial Narrow" panose="020B0606020202030204" pitchFamily="34" charset="0"/>
            </a:endParaRPr>
          </a:p>
        </p:txBody>
      </p:sp>
      <p:sp>
        <p:nvSpPr>
          <p:cNvPr id="5" name="Slide Number Placeholder 4"/>
          <p:cNvSpPr>
            <a:spLocks noGrp="1"/>
          </p:cNvSpPr>
          <p:nvPr>
            <p:ph type="sldNum" sz="quarter" idx="12"/>
          </p:nvPr>
        </p:nvSpPr>
        <p:spPr/>
        <p:txBody>
          <a:bodyPr/>
          <a:lstStyle/>
          <a:p>
            <a:fld id="{90EDC104-672A-4227-99C4-0E2CC007FDBA}" type="slidenum">
              <a:rPr lang="en-IN" smtClean="0"/>
              <a:t>12</a:t>
            </a:fld>
            <a:endParaRPr lang="en-IN" dirty="0"/>
          </a:p>
        </p:txBody>
      </p:sp>
      <p:pic>
        <p:nvPicPr>
          <p:cNvPr id="1028" name="Picture 4">
            <a:extLst>
              <a:ext uri="{FF2B5EF4-FFF2-40B4-BE49-F238E27FC236}">
                <a16:creationId xmlns:a16="http://schemas.microsoft.com/office/drawing/2014/main" id="{5AC79B5A-E8E3-A605-8456-89D02ABDD1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00" y="1010920"/>
            <a:ext cx="3587147" cy="360379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73ABFC6-763E-B7C5-9930-B67A65DC00FC}"/>
              </a:ext>
            </a:extLst>
          </p:cNvPr>
          <p:cNvSpPr txBox="1"/>
          <p:nvPr/>
        </p:nvSpPr>
        <p:spPr>
          <a:xfrm>
            <a:off x="4115468" y="1325563"/>
            <a:ext cx="7670132" cy="4832092"/>
          </a:xfrm>
          <a:prstGeom prst="rect">
            <a:avLst/>
          </a:prstGeom>
          <a:noFill/>
        </p:spPr>
        <p:txBody>
          <a:bodyPr wrap="square">
            <a:spAutoFit/>
          </a:bodyPr>
          <a:lstStyle/>
          <a:p>
            <a:pPr marL="285750" indent="-285750">
              <a:buFont typeface="Arial" panose="020B0604020202020204" pitchFamily="34" charset="0"/>
              <a:buChar char="•"/>
            </a:pPr>
            <a:r>
              <a:rPr lang="en-IN" sz="2800" dirty="0">
                <a:effectLst/>
                <a:latin typeface="+mj-lt"/>
                <a:ea typeface="Calibri" panose="020F0502020204030204" pitchFamily="34" charset="0"/>
                <a:cs typeface="Times New Roman" panose="02020603050405020304" pitchFamily="18" charset="0"/>
              </a:rPr>
              <a:t>A Python function was designed to display an image with bounding box annotations and a caption. </a:t>
            </a:r>
          </a:p>
          <a:p>
            <a:pPr marL="285750" indent="-285750">
              <a:buFont typeface="Arial" panose="020B0604020202020204" pitchFamily="34" charset="0"/>
              <a:buChar char="•"/>
            </a:pPr>
            <a:r>
              <a:rPr lang="en-IN" sz="2800" dirty="0">
                <a:effectLst/>
                <a:latin typeface="+mj-lt"/>
                <a:ea typeface="Calibri" panose="020F0502020204030204" pitchFamily="34" charset="0"/>
                <a:cs typeface="Times New Roman" panose="02020603050405020304" pitchFamily="18" charset="0"/>
              </a:rPr>
              <a:t>It opens an image file and an annotation file, which contains the coordinates for the bounding box. </a:t>
            </a:r>
          </a:p>
          <a:p>
            <a:pPr marL="285750" indent="-285750">
              <a:buFont typeface="Arial" panose="020B0604020202020204" pitchFamily="34" charset="0"/>
              <a:buChar char="•"/>
            </a:pPr>
            <a:r>
              <a:rPr lang="en-IN" sz="2800" dirty="0">
                <a:effectLst/>
                <a:latin typeface="+mj-lt"/>
                <a:ea typeface="Calibri" panose="020F0502020204030204" pitchFamily="34" charset="0"/>
                <a:cs typeface="Times New Roman" panose="02020603050405020304" pitchFamily="18" charset="0"/>
              </a:rPr>
              <a:t>These coordinates are normalized and scaled according to the image's dimensions to properly position the bounding box on the image. </a:t>
            </a:r>
          </a:p>
          <a:p>
            <a:pPr marL="285750" indent="-285750">
              <a:buFont typeface="Arial" panose="020B0604020202020204" pitchFamily="34" charset="0"/>
              <a:buChar char="•"/>
            </a:pPr>
            <a:r>
              <a:rPr lang="en-IN" sz="2800" dirty="0">
                <a:effectLst/>
                <a:latin typeface="+mj-lt"/>
                <a:ea typeface="Calibri" panose="020F0502020204030204" pitchFamily="34" charset="0"/>
                <a:cs typeface="Times New Roman" panose="02020603050405020304" pitchFamily="18" charset="0"/>
              </a:rPr>
              <a:t>The Rectangle method is used to draw the bounding box.</a:t>
            </a:r>
            <a:endParaRPr lang="en-IN" sz="24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05931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9BFBC-D418-BE95-3937-0D331B070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0D959-A94E-41AD-CC5E-723BB76FDAB7}"/>
              </a:ext>
            </a:extLst>
          </p:cNvPr>
          <p:cNvSpPr>
            <a:spLocks noGrp="1"/>
          </p:cNvSpPr>
          <p:nvPr>
            <p:ph type="title"/>
          </p:nvPr>
        </p:nvSpPr>
        <p:spPr>
          <a:xfrm>
            <a:off x="838200" y="0"/>
            <a:ext cx="10515600" cy="1325563"/>
          </a:xfrm>
        </p:spPr>
        <p:txBody>
          <a:bodyPr/>
          <a:lstStyle/>
          <a:p>
            <a:r>
              <a:rPr lang="en-US" b="1" dirty="0">
                <a:latin typeface="Arial Narrow" panose="020B0606020202030204" pitchFamily="34" charset="0"/>
              </a:rPr>
              <a:t>Exploratory Data Analysis </a:t>
            </a:r>
            <a:endParaRPr lang="en-IN" b="1" dirty="0">
              <a:latin typeface="Arial Narrow" panose="020B0606020202030204" pitchFamily="34" charset="0"/>
            </a:endParaRPr>
          </a:p>
        </p:txBody>
      </p:sp>
      <p:sp>
        <p:nvSpPr>
          <p:cNvPr id="5" name="Slide Number Placeholder 4">
            <a:extLst>
              <a:ext uri="{FF2B5EF4-FFF2-40B4-BE49-F238E27FC236}">
                <a16:creationId xmlns:a16="http://schemas.microsoft.com/office/drawing/2014/main" id="{40248D76-7D74-C2E7-E56D-351899C2D41F}"/>
              </a:ext>
            </a:extLst>
          </p:cNvPr>
          <p:cNvSpPr>
            <a:spLocks noGrp="1"/>
          </p:cNvSpPr>
          <p:nvPr>
            <p:ph type="sldNum" sz="quarter" idx="12"/>
          </p:nvPr>
        </p:nvSpPr>
        <p:spPr/>
        <p:txBody>
          <a:bodyPr/>
          <a:lstStyle/>
          <a:p>
            <a:fld id="{90EDC104-672A-4227-99C4-0E2CC007FDBA}" type="slidenum">
              <a:rPr lang="en-IN" smtClean="0"/>
              <a:t>13</a:t>
            </a:fld>
            <a:endParaRPr lang="en-IN" dirty="0"/>
          </a:p>
        </p:txBody>
      </p:sp>
      <p:pic>
        <p:nvPicPr>
          <p:cNvPr id="1026" name="Picture 2">
            <a:extLst>
              <a:ext uri="{FF2B5EF4-FFF2-40B4-BE49-F238E27FC236}">
                <a16:creationId xmlns:a16="http://schemas.microsoft.com/office/drawing/2014/main" id="{80F2EAA8-D65C-5B9A-AF48-C64933552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31086"/>
            <a:ext cx="7958585" cy="27543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05D31BB-98FD-1B1E-3A21-8632F9B3C204}"/>
              </a:ext>
            </a:extLst>
          </p:cNvPr>
          <p:cNvSpPr txBox="1"/>
          <p:nvPr/>
        </p:nvSpPr>
        <p:spPr>
          <a:xfrm>
            <a:off x="386080" y="3896453"/>
            <a:ext cx="11419840" cy="2554545"/>
          </a:xfrm>
          <a:prstGeom prst="rect">
            <a:avLst/>
          </a:prstGeom>
          <a:noFill/>
        </p:spPr>
        <p:txBody>
          <a:bodyPr wrap="square">
            <a:spAutoFit/>
          </a:bodyPr>
          <a:lstStyle/>
          <a:p>
            <a:pPr marL="285750" indent="-285750">
              <a:buFont typeface="Arial" panose="020B0604020202020204" pitchFamily="34" charset="0"/>
              <a:buChar char="•"/>
            </a:pPr>
            <a:r>
              <a:rPr lang="en-IN" sz="2000" dirty="0">
                <a:effectLst/>
                <a:latin typeface="+mj-lt"/>
                <a:ea typeface="Calibri" panose="020F0502020204030204" pitchFamily="34" charset="0"/>
                <a:cs typeface="Times New Roman" panose="02020603050405020304" pitchFamily="18" charset="0"/>
              </a:rPr>
              <a:t>The data is augmented on an image by creating two altered versions: one that is mirrored and one that is rotated. </a:t>
            </a:r>
          </a:p>
          <a:p>
            <a:pPr marL="285750" indent="-285750">
              <a:buFont typeface="Arial" panose="020B0604020202020204" pitchFamily="34" charset="0"/>
              <a:buChar char="•"/>
            </a:pPr>
            <a:r>
              <a:rPr lang="en-IN" sz="2000" dirty="0">
                <a:effectLst/>
                <a:latin typeface="+mj-lt"/>
                <a:ea typeface="Calibri" panose="020F0502020204030204" pitchFamily="34" charset="0"/>
                <a:cs typeface="Times New Roman" panose="02020603050405020304" pitchFamily="18" charset="0"/>
              </a:rPr>
              <a:t>A random image is chosen from a dataset, manipulated, and then three versions — the original, the mirrored, and the rotated (by 15°)— are displayed together with their corresponding labels. </a:t>
            </a:r>
          </a:p>
          <a:p>
            <a:pPr marL="285750" indent="-285750">
              <a:buFont typeface="Arial" panose="020B0604020202020204" pitchFamily="34" charset="0"/>
              <a:buChar char="•"/>
            </a:pPr>
            <a:r>
              <a:rPr lang="en-IN" sz="2000" dirty="0">
                <a:effectLst/>
                <a:latin typeface="+mj-lt"/>
                <a:ea typeface="Calibri" panose="020F0502020204030204" pitchFamily="34" charset="0"/>
                <a:cs typeface="Times New Roman" panose="02020603050405020304" pitchFamily="18" charset="0"/>
              </a:rPr>
              <a:t>This process is part of preparing a more diverse set of training data for machine learning models, helping them to better generalize by learning from varied representations of the same object. </a:t>
            </a:r>
          </a:p>
          <a:p>
            <a:pPr marL="285750" indent="-285750">
              <a:buFont typeface="Arial" panose="020B0604020202020204" pitchFamily="34" charset="0"/>
              <a:buChar char="•"/>
            </a:pPr>
            <a:r>
              <a:rPr lang="en-IN" sz="2000" dirty="0">
                <a:effectLst/>
                <a:latin typeface="+mj-lt"/>
                <a:ea typeface="Calibri" panose="020F0502020204030204" pitchFamily="34" charset="0"/>
                <a:cs typeface="Times New Roman" panose="02020603050405020304" pitchFamily="18" charset="0"/>
              </a:rPr>
              <a:t>The output image illustrates the result of these augmentations, with the original image in the centre flanked by its horizontally flipped and slightly rotated counterparts.</a:t>
            </a:r>
            <a:endParaRPr lang="en-IN"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9764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5644D-9937-1078-006E-AEE917E34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310B7-FE7B-9638-4CA7-EEF71B6C52B2}"/>
              </a:ext>
            </a:extLst>
          </p:cNvPr>
          <p:cNvSpPr>
            <a:spLocks noGrp="1"/>
          </p:cNvSpPr>
          <p:nvPr>
            <p:ph type="title"/>
          </p:nvPr>
        </p:nvSpPr>
        <p:spPr>
          <a:xfrm>
            <a:off x="838199" y="-210474"/>
            <a:ext cx="10515600" cy="1325563"/>
          </a:xfrm>
        </p:spPr>
        <p:txBody>
          <a:bodyPr/>
          <a:lstStyle/>
          <a:p>
            <a:r>
              <a:rPr lang="en-US" b="1" dirty="0">
                <a:latin typeface="Arial Narrow" panose="020B0606020202030204" pitchFamily="34" charset="0"/>
              </a:rPr>
              <a:t>Exploratory Data Analysis </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A606B212-E889-C503-13CA-282B55DCA546}"/>
              </a:ext>
            </a:extLst>
          </p:cNvPr>
          <p:cNvSpPr>
            <a:spLocks noGrp="1"/>
          </p:cNvSpPr>
          <p:nvPr>
            <p:ph idx="1"/>
          </p:nvPr>
        </p:nvSpPr>
        <p:spPr>
          <a:xfrm>
            <a:off x="838199" y="1201559"/>
            <a:ext cx="5257800" cy="679402"/>
          </a:xfrm>
        </p:spPr>
        <p:txBody>
          <a:bodyPr/>
          <a:lstStyle/>
          <a:p>
            <a:pPr marL="0" indent="0">
              <a:buNone/>
            </a:pPr>
            <a:r>
              <a:rPr lang="en-US" dirty="0"/>
              <a:t>Train-Test Split for 16800 images</a:t>
            </a:r>
          </a:p>
          <a:p>
            <a:pPr marL="0" indent="0">
              <a:buNone/>
            </a:pPr>
            <a:endParaRPr lang="en-US" dirty="0"/>
          </a:p>
          <a:p>
            <a:pPr marL="0" indent="0">
              <a:buNone/>
            </a:pPr>
            <a:endParaRPr lang="en-IN" dirty="0"/>
          </a:p>
        </p:txBody>
      </p:sp>
      <p:sp>
        <p:nvSpPr>
          <p:cNvPr id="5" name="Slide Number Placeholder 4">
            <a:extLst>
              <a:ext uri="{FF2B5EF4-FFF2-40B4-BE49-F238E27FC236}">
                <a16:creationId xmlns:a16="http://schemas.microsoft.com/office/drawing/2014/main" id="{5DBDA2F8-080F-46D3-E560-2C826C9ED296}"/>
              </a:ext>
            </a:extLst>
          </p:cNvPr>
          <p:cNvSpPr>
            <a:spLocks noGrp="1"/>
          </p:cNvSpPr>
          <p:nvPr>
            <p:ph type="sldNum" sz="quarter" idx="12"/>
          </p:nvPr>
        </p:nvSpPr>
        <p:spPr/>
        <p:txBody>
          <a:bodyPr/>
          <a:lstStyle/>
          <a:p>
            <a:fld id="{90EDC104-672A-4227-99C4-0E2CC007FDBA}" type="slidenum">
              <a:rPr lang="en-IN" smtClean="0"/>
              <a:t>14</a:t>
            </a:fld>
            <a:endParaRPr lang="en-IN" dirty="0"/>
          </a:p>
        </p:txBody>
      </p:sp>
      <p:pic>
        <p:nvPicPr>
          <p:cNvPr id="4" name="Picture 3">
            <a:extLst>
              <a:ext uri="{FF2B5EF4-FFF2-40B4-BE49-F238E27FC236}">
                <a16:creationId xmlns:a16="http://schemas.microsoft.com/office/drawing/2014/main" id="{8BD76267-F97D-CD0F-F874-321176399547}"/>
              </a:ext>
            </a:extLst>
          </p:cNvPr>
          <p:cNvPicPr>
            <a:picLocks noChangeAspect="1"/>
          </p:cNvPicPr>
          <p:nvPr/>
        </p:nvPicPr>
        <p:blipFill>
          <a:blip r:embed="rId2"/>
          <a:stretch>
            <a:fillRect/>
          </a:stretch>
        </p:blipFill>
        <p:spPr>
          <a:xfrm>
            <a:off x="838198" y="2013280"/>
            <a:ext cx="7363505" cy="1203960"/>
          </a:xfrm>
          <a:prstGeom prst="rect">
            <a:avLst/>
          </a:prstGeom>
          <a:ln w="3175">
            <a:solidFill>
              <a:schemeClr val="tx1"/>
            </a:solidFill>
          </a:ln>
        </p:spPr>
      </p:pic>
      <p:sp>
        <p:nvSpPr>
          <p:cNvPr id="7" name="TextBox 6">
            <a:extLst>
              <a:ext uri="{FF2B5EF4-FFF2-40B4-BE49-F238E27FC236}">
                <a16:creationId xmlns:a16="http://schemas.microsoft.com/office/drawing/2014/main" id="{A621F90C-ABD4-2D77-507F-CCD7AC8525F9}"/>
              </a:ext>
            </a:extLst>
          </p:cNvPr>
          <p:cNvSpPr txBox="1"/>
          <p:nvPr/>
        </p:nvSpPr>
        <p:spPr>
          <a:xfrm>
            <a:off x="838199" y="3717449"/>
            <a:ext cx="10515600" cy="1938992"/>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mj-lt"/>
              </a:rPr>
              <a:t>There is a collection of 16,800 images that are divided into two sets: One set with 13,440 images and another set with 3,360 images, both distributed across 7 different classes (7 members of BTS). </a:t>
            </a:r>
          </a:p>
          <a:p>
            <a:pPr marL="342900" indent="-342900">
              <a:buFont typeface="Arial" panose="020B0604020202020204" pitchFamily="34" charset="0"/>
              <a:buChar char="•"/>
            </a:pPr>
            <a:r>
              <a:rPr lang="en-US" sz="2400" dirty="0">
                <a:latin typeface="+mj-lt"/>
              </a:rPr>
              <a:t>This division corresponds to a training and a validation (or test) set with the test set size being 20% of the total images.</a:t>
            </a:r>
            <a:endParaRPr lang="en-IN" sz="2400" dirty="0">
              <a:latin typeface="+mj-lt"/>
            </a:endParaRPr>
          </a:p>
        </p:txBody>
      </p:sp>
    </p:spTree>
    <p:extLst>
      <p:ext uri="{BB962C8B-B14F-4D97-AF65-F5344CB8AC3E}">
        <p14:creationId xmlns:p14="http://schemas.microsoft.com/office/powerpoint/2010/main" val="3547883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1F197-2670-6238-BC3A-524EB62AF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90C76-1B6F-E49F-3417-9CD8E127C821}"/>
              </a:ext>
            </a:extLst>
          </p:cNvPr>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07D4941B-9C34-449D-BC69-F6A81FA581C5}"/>
              </a:ext>
            </a:extLst>
          </p:cNvPr>
          <p:cNvSpPr>
            <a:spLocks noGrp="1"/>
          </p:cNvSpPr>
          <p:nvPr>
            <p:ph idx="1"/>
          </p:nvPr>
        </p:nvSpPr>
        <p:spPr>
          <a:xfrm>
            <a:off x="365760" y="1203309"/>
            <a:ext cx="11460480" cy="4998403"/>
          </a:xfrm>
        </p:spPr>
        <p:txBody>
          <a:bodyPr>
            <a:normAutofit lnSpcReduction="10000"/>
          </a:bodyPr>
          <a:lstStyle/>
          <a:p>
            <a:pPr marL="0" indent="0">
              <a:buNone/>
            </a:pPr>
            <a:r>
              <a:rPr lang="en-US" sz="3200" b="1" dirty="0">
                <a:latin typeface="+mj-lt"/>
              </a:rPr>
              <a:t>Classification Convolutional Neural Networks (CNNs)</a:t>
            </a:r>
            <a:endParaRPr lang="en-US" sz="2400" dirty="0">
              <a:latin typeface="+mj-lt"/>
            </a:endParaRPr>
          </a:p>
          <a:p>
            <a:pPr marL="0" indent="0">
              <a:buNone/>
            </a:pPr>
            <a:endParaRPr lang="en-US" sz="2400" dirty="0">
              <a:latin typeface="+mj-lt"/>
            </a:endParaRPr>
          </a:p>
          <a:p>
            <a:endParaRPr lang="en-US" sz="2400" dirty="0">
              <a:latin typeface="+mj-lt"/>
            </a:endParaRPr>
          </a:p>
          <a:p>
            <a:pPr marL="0" indent="0">
              <a:buNone/>
            </a:pPr>
            <a:endParaRPr lang="en-US" sz="2400" dirty="0">
              <a:latin typeface="+mj-lt"/>
            </a:endParaRPr>
          </a:p>
          <a:p>
            <a:r>
              <a:rPr lang="en-US" sz="2400" b="1" dirty="0">
                <a:latin typeface="+mj-lt"/>
              </a:rPr>
              <a:t>Test Loss: </a:t>
            </a:r>
            <a:r>
              <a:rPr lang="en-US" sz="2400" dirty="0">
                <a:latin typeface="+mj-lt"/>
              </a:rPr>
              <a:t>The test loss is a quantitative measure of how well the model's predictions match the actual labels of the test data. A lower test loss indicates a model that makes predictions closer to the true labels. In the context of the image, the test loss is 0.7733513116836548, which suggests that there is some room for improvement, as a perfect model would have a test loss of 0. </a:t>
            </a:r>
          </a:p>
          <a:p>
            <a:r>
              <a:rPr lang="en-US" sz="2400" b="1" dirty="0">
                <a:latin typeface="+mj-lt"/>
              </a:rPr>
              <a:t>Test Accuracy: </a:t>
            </a:r>
            <a:r>
              <a:rPr lang="en-US" sz="2400" dirty="0">
                <a:latin typeface="+mj-lt"/>
              </a:rPr>
              <a:t>The test accuracy is a measure of the fraction of predictions the model got right. In this case, the model has a test accuracy of 0.719345211982727 or about 71.93%. This indicates that the model correctly predicts the class of the input image around 72% of the time on the test dataset.</a:t>
            </a:r>
          </a:p>
          <a:p>
            <a:pPr marL="0" indent="0">
              <a:buNone/>
            </a:pPr>
            <a:endParaRPr lang="en-US" dirty="0"/>
          </a:p>
        </p:txBody>
      </p:sp>
      <p:sp>
        <p:nvSpPr>
          <p:cNvPr id="4" name="Footer Placeholder 3">
            <a:extLst>
              <a:ext uri="{FF2B5EF4-FFF2-40B4-BE49-F238E27FC236}">
                <a16:creationId xmlns:a16="http://schemas.microsoft.com/office/drawing/2014/main" id="{484CB18D-5488-76C2-13AC-3082CC741727}"/>
              </a:ext>
            </a:extLst>
          </p:cNvPr>
          <p:cNvSpPr>
            <a:spLocks noGrp="1"/>
          </p:cNvSpPr>
          <p:nvPr>
            <p:ph type="ftr" sz="quarter" idx="11"/>
          </p:nvPr>
        </p:nvSpPr>
        <p:spPr/>
        <p:txBody>
          <a:bodyPr/>
          <a:lstStyle/>
          <a:p>
            <a:r>
              <a:rPr lang="en-IN" dirty="0"/>
              <a:t>CS7501 Project 2 , PGP, ICER, VIT Bangalore</a:t>
            </a:r>
          </a:p>
        </p:txBody>
      </p:sp>
      <p:sp>
        <p:nvSpPr>
          <p:cNvPr id="5" name="Slide Number Placeholder 4">
            <a:extLst>
              <a:ext uri="{FF2B5EF4-FFF2-40B4-BE49-F238E27FC236}">
                <a16:creationId xmlns:a16="http://schemas.microsoft.com/office/drawing/2014/main" id="{232366E9-A0E8-3CF1-2289-26C114AFB140}"/>
              </a:ext>
            </a:extLst>
          </p:cNvPr>
          <p:cNvSpPr>
            <a:spLocks noGrp="1"/>
          </p:cNvSpPr>
          <p:nvPr>
            <p:ph type="sldNum" sz="quarter" idx="12"/>
          </p:nvPr>
        </p:nvSpPr>
        <p:spPr/>
        <p:txBody>
          <a:bodyPr/>
          <a:lstStyle/>
          <a:p>
            <a:fld id="{90EDC104-672A-4227-99C4-0E2CC007FDBA}" type="slidenum">
              <a:rPr lang="en-IN" smtClean="0"/>
              <a:t>15</a:t>
            </a:fld>
            <a:endParaRPr lang="en-IN" dirty="0"/>
          </a:p>
        </p:txBody>
      </p:sp>
      <p:pic>
        <p:nvPicPr>
          <p:cNvPr id="6" name="Picture 5">
            <a:extLst>
              <a:ext uri="{FF2B5EF4-FFF2-40B4-BE49-F238E27FC236}">
                <a16:creationId xmlns:a16="http://schemas.microsoft.com/office/drawing/2014/main" id="{C7D3DC45-3D53-DE01-7084-D4C803213A04}"/>
              </a:ext>
            </a:extLst>
          </p:cNvPr>
          <p:cNvPicPr>
            <a:picLocks noChangeAspect="1"/>
          </p:cNvPicPr>
          <p:nvPr/>
        </p:nvPicPr>
        <p:blipFill rotWithShape="1">
          <a:blip r:embed="rId2"/>
          <a:srcRect l="2593" t="52921"/>
          <a:stretch/>
        </p:blipFill>
        <p:spPr bwMode="auto">
          <a:xfrm>
            <a:off x="499426" y="1828800"/>
            <a:ext cx="9888126" cy="853440"/>
          </a:xfrm>
          <a:prstGeom prst="rect">
            <a:avLst/>
          </a:prstGeom>
          <a:ln w="3175">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78280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D52B-B358-C324-CDD3-303F5F334D7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33D3CB1-5BC6-CC9D-C240-3AE598167EE1}"/>
              </a:ext>
            </a:extLst>
          </p:cNvPr>
          <p:cNvPicPr>
            <a:picLocks noChangeAspect="1"/>
          </p:cNvPicPr>
          <p:nvPr/>
        </p:nvPicPr>
        <p:blipFill>
          <a:blip r:embed="rId2"/>
          <a:stretch>
            <a:fillRect/>
          </a:stretch>
        </p:blipFill>
        <p:spPr>
          <a:xfrm>
            <a:off x="6278880" y="136525"/>
            <a:ext cx="5455920" cy="2881521"/>
          </a:xfrm>
          <a:prstGeom prst="rect">
            <a:avLst/>
          </a:prstGeom>
          <a:ln w="6350">
            <a:solidFill>
              <a:schemeClr val="tx1"/>
            </a:solidFill>
          </a:ln>
        </p:spPr>
      </p:pic>
      <p:sp>
        <p:nvSpPr>
          <p:cNvPr id="2" name="Title 1">
            <a:extLst>
              <a:ext uri="{FF2B5EF4-FFF2-40B4-BE49-F238E27FC236}">
                <a16:creationId xmlns:a16="http://schemas.microsoft.com/office/drawing/2014/main" id="{70EE2E22-689B-1EDF-ADF4-A762D98A3C19}"/>
              </a:ext>
            </a:extLst>
          </p:cNvPr>
          <p:cNvSpPr>
            <a:spLocks noGrp="1"/>
          </p:cNvSpPr>
          <p:nvPr>
            <p:ph type="title"/>
          </p:nvPr>
        </p:nvSpPr>
        <p:spPr>
          <a:xfrm>
            <a:off x="838199" y="0"/>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D906A67A-99DD-E0D1-03B5-062C5B51C63D}"/>
              </a:ext>
            </a:extLst>
          </p:cNvPr>
          <p:cNvSpPr>
            <a:spLocks noGrp="1"/>
          </p:cNvSpPr>
          <p:nvPr>
            <p:ph idx="1"/>
          </p:nvPr>
        </p:nvSpPr>
        <p:spPr>
          <a:xfrm>
            <a:off x="365760" y="1325562"/>
            <a:ext cx="11369040" cy="5217477"/>
          </a:xfrm>
        </p:spPr>
        <p:txBody>
          <a:bodyPr>
            <a:normAutofit/>
          </a:bodyPr>
          <a:lstStyle/>
          <a:p>
            <a:pPr marL="0" indent="0">
              <a:buNone/>
            </a:pPr>
            <a:r>
              <a:rPr lang="en-IN" sz="3200" b="1" i="0" dirty="0">
                <a:effectLst/>
                <a:latin typeface="+mj-lt"/>
              </a:rPr>
              <a:t>Custom CNN Model</a:t>
            </a: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r>
              <a:rPr lang="en-US" dirty="0">
                <a:latin typeface="+mj-lt"/>
              </a:rPr>
              <a:t>Looking at these performance metrics…</a:t>
            </a:r>
          </a:p>
          <a:p>
            <a:r>
              <a:rPr lang="en-US" dirty="0">
                <a:latin typeface="+mj-lt"/>
              </a:rPr>
              <a:t>The f1-scores are quite low, which suggests the model is not performing well in identifying the individuals accurately. In particular, the f1-scores for Jin, Suga, and V are extremely low (0.01, 0.00, and 0.02, respectively), indicating a poor performance in classifying these individuals. </a:t>
            </a:r>
          </a:p>
          <a:p>
            <a:r>
              <a:rPr lang="en-US" dirty="0">
                <a:latin typeface="+mj-lt"/>
              </a:rPr>
              <a:t>It’s also worth noting that the accuracy is quite low at 0.15.</a:t>
            </a:r>
            <a:endParaRPr lang="en-US" sz="4000" dirty="0"/>
          </a:p>
        </p:txBody>
      </p:sp>
      <p:sp>
        <p:nvSpPr>
          <p:cNvPr id="4" name="Footer Placeholder 3">
            <a:extLst>
              <a:ext uri="{FF2B5EF4-FFF2-40B4-BE49-F238E27FC236}">
                <a16:creationId xmlns:a16="http://schemas.microsoft.com/office/drawing/2014/main" id="{7BFA3E74-044C-816A-8D2F-51E778C49E95}"/>
              </a:ext>
            </a:extLst>
          </p:cNvPr>
          <p:cNvSpPr>
            <a:spLocks noGrp="1"/>
          </p:cNvSpPr>
          <p:nvPr>
            <p:ph type="ftr" sz="quarter" idx="11"/>
          </p:nvPr>
        </p:nvSpPr>
        <p:spPr/>
        <p:txBody>
          <a:bodyPr/>
          <a:lstStyle/>
          <a:p>
            <a:r>
              <a:rPr lang="en-IN" dirty="0"/>
              <a:t>CS7501 Project 2 , PGP, ICER, VIT Bangalore</a:t>
            </a:r>
          </a:p>
        </p:txBody>
      </p:sp>
      <p:sp>
        <p:nvSpPr>
          <p:cNvPr id="5" name="Slide Number Placeholder 4">
            <a:extLst>
              <a:ext uri="{FF2B5EF4-FFF2-40B4-BE49-F238E27FC236}">
                <a16:creationId xmlns:a16="http://schemas.microsoft.com/office/drawing/2014/main" id="{FB1E0A43-B978-FA2E-A68F-EDCF97F30768}"/>
              </a:ext>
            </a:extLst>
          </p:cNvPr>
          <p:cNvSpPr>
            <a:spLocks noGrp="1"/>
          </p:cNvSpPr>
          <p:nvPr>
            <p:ph type="sldNum" sz="quarter" idx="12"/>
          </p:nvPr>
        </p:nvSpPr>
        <p:spPr/>
        <p:txBody>
          <a:bodyPr/>
          <a:lstStyle/>
          <a:p>
            <a:fld id="{90EDC104-672A-4227-99C4-0E2CC007FDBA}" type="slidenum">
              <a:rPr lang="en-IN" smtClean="0"/>
              <a:t>16</a:t>
            </a:fld>
            <a:endParaRPr lang="en-IN"/>
          </a:p>
        </p:txBody>
      </p:sp>
    </p:spTree>
    <p:extLst>
      <p:ext uri="{BB962C8B-B14F-4D97-AF65-F5344CB8AC3E}">
        <p14:creationId xmlns:p14="http://schemas.microsoft.com/office/powerpoint/2010/main" val="2447434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D1CD1-C479-512D-50B2-60D5C721F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7685A-F154-E421-B793-E208A8D52125}"/>
              </a:ext>
            </a:extLst>
          </p:cNvPr>
          <p:cNvSpPr>
            <a:spLocks noGrp="1"/>
          </p:cNvSpPr>
          <p:nvPr>
            <p:ph type="title"/>
          </p:nvPr>
        </p:nvSpPr>
        <p:spPr>
          <a:xfrm>
            <a:off x="838200" y="52038"/>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F46FEA81-ED98-E300-7AB9-378D1817F71F}"/>
              </a:ext>
            </a:extLst>
          </p:cNvPr>
          <p:cNvSpPr>
            <a:spLocks noGrp="1"/>
          </p:cNvSpPr>
          <p:nvPr>
            <p:ph idx="1"/>
          </p:nvPr>
        </p:nvSpPr>
        <p:spPr>
          <a:xfrm>
            <a:off x="497840" y="1198880"/>
            <a:ext cx="11206480" cy="5232400"/>
          </a:xfrm>
        </p:spPr>
        <p:txBody>
          <a:bodyPr>
            <a:normAutofit/>
          </a:bodyPr>
          <a:lstStyle/>
          <a:p>
            <a:pPr marL="0" indent="0">
              <a:buNone/>
            </a:pPr>
            <a:r>
              <a:rPr lang="en-US" sz="3600" b="1" dirty="0">
                <a:latin typeface="+mj-lt"/>
              </a:rPr>
              <a:t>Class Prediction using CNN</a:t>
            </a:r>
          </a:p>
          <a:p>
            <a:pPr marL="0" indent="0">
              <a:buNone/>
            </a:pPr>
            <a:endParaRPr lang="en-US" sz="3600" b="1" dirty="0">
              <a:latin typeface="+mj-lt"/>
            </a:endParaRPr>
          </a:p>
          <a:p>
            <a:pPr marL="0" indent="0">
              <a:buNone/>
            </a:pPr>
            <a:r>
              <a:rPr lang="en-US" sz="2400" dirty="0">
                <a:solidFill>
                  <a:srgbClr val="000000"/>
                </a:solidFill>
                <a:effectLst/>
                <a:latin typeface="+mj-lt"/>
                <a:ea typeface="Times New Roman" panose="02020603050405020304" pitchFamily="18" charset="0"/>
                <a:cs typeface="Times New Roman" panose="02020603050405020304" pitchFamily="18" charset="0"/>
              </a:rPr>
              <a:t>The model is predicting a member's face </a:t>
            </a:r>
          </a:p>
          <a:p>
            <a:pPr marL="0" indent="0">
              <a:buNone/>
            </a:pPr>
            <a:r>
              <a:rPr lang="en-US" sz="2400" dirty="0">
                <a:solidFill>
                  <a:srgbClr val="000000"/>
                </a:solidFill>
                <a:effectLst/>
                <a:latin typeface="+mj-lt"/>
                <a:ea typeface="Times New Roman" panose="02020603050405020304" pitchFamily="18" charset="0"/>
                <a:cs typeface="Times New Roman" panose="02020603050405020304" pitchFamily="18" charset="0"/>
              </a:rPr>
              <a:t>with a probability. The predicted member </a:t>
            </a:r>
          </a:p>
          <a:p>
            <a:pPr marL="0" indent="0">
              <a:buNone/>
            </a:pPr>
            <a:r>
              <a:rPr lang="en-US" sz="2400" dirty="0">
                <a:solidFill>
                  <a:srgbClr val="000000"/>
                </a:solidFill>
                <a:effectLst/>
                <a:latin typeface="+mj-lt"/>
                <a:ea typeface="Times New Roman" panose="02020603050405020304" pitchFamily="18" charset="0"/>
                <a:cs typeface="Times New Roman" panose="02020603050405020304" pitchFamily="18" charset="0"/>
              </a:rPr>
              <a:t>is "J Hope" with a probability of 0.1865, </a:t>
            </a:r>
          </a:p>
          <a:p>
            <a:pPr marL="0" indent="0">
              <a:buNone/>
            </a:pPr>
            <a:r>
              <a:rPr lang="en-US" sz="2400" dirty="0">
                <a:solidFill>
                  <a:srgbClr val="000000"/>
                </a:solidFill>
                <a:effectLst/>
                <a:latin typeface="+mj-lt"/>
                <a:ea typeface="Times New Roman" panose="02020603050405020304" pitchFamily="18" charset="0"/>
                <a:cs typeface="Times New Roman" panose="02020603050405020304" pitchFamily="18" charset="0"/>
              </a:rPr>
              <a:t>which is quite low and indicates uncertainty </a:t>
            </a:r>
          </a:p>
          <a:p>
            <a:pPr marL="0" indent="0">
              <a:buNone/>
            </a:pPr>
            <a:r>
              <a:rPr lang="en-US" sz="2400" dirty="0">
                <a:solidFill>
                  <a:srgbClr val="000000"/>
                </a:solidFill>
                <a:effectLst/>
                <a:latin typeface="+mj-lt"/>
                <a:ea typeface="Times New Roman" panose="02020603050405020304" pitchFamily="18" charset="0"/>
                <a:cs typeface="Times New Roman" panose="02020603050405020304" pitchFamily="18" charset="0"/>
              </a:rPr>
              <a:t>in the model's prediction.</a:t>
            </a:r>
            <a:endParaRPr lang="en-IN" sz="2400" dirty="0">
              <a:effectLst/>
              <a:latin typeface="+mj-lt"/>
              <a:ea typeface="Calibri" panose="020F0502020204030204" pitchFamily="34" charset="0"/>
              <a:cs typeface="Times New Roman" panose="02020603050405020304" pitchFamily="18" charset="0"/>
            </a:endParaRPr>
          </a:p>
          <a:p>
            <a:pPr marL="0" indent="0">
              <a:buNone/>
            </a:pPr>
            <a:endParaRPr lang="en-US" sz="3200" b="1" dirty="0">
              <a:latin typeface="+mj-lt"/>
            </a:endParaRPr>
          </a:p>
        </p:txBody>
      </p:sp>
      <p:sp>
        <p:nvSpPr>
          <p:cNvPr id="4" name="Footer Placeholder 3">
            <a:extLst>
              <a:ext uri="{FF2B5EF4-FFF2-40B4-BE49-F238E27FC236}">
                <a16:creationId xmlns:a16="http://schemas.microsoft.com/office/drawing/2014/main" id="{DCF37673-0DC3-4BA2-AF2C-954934947969}"/>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F86BC347-BAD5-885B-F526-A81E722B90F3}"/>
              </a:ext>
            </a:extLst>
          </p:cNvPr>
          <p:cNvSpPr>
            <a:spLocks noGrp="1"/>
          </p:cNvSpPr>
          <p:nvPr>
            <p:ph type="sldNum" sz="quarter" idx="12"/>
          </p:nvPr>
        </p:nvSpPr>
        <p:spPr/>
        <p:txBody>
          <a:bodyPr/>
          <a:lstStyle/>
          <a:p>
            <a:fld id="{90EDC104-672A-4227-99C4-0E2CC007FDBA}" type="slidenum">
              <a:rPr lang="en-IN" smtClean="0"/>
              <a:t>17</a:t>
            </a:fld>
            <a:endParaRPr lang="en-IN"/>
          </a:p>
        </p:txBody>
      </p:sp>
      <p:pic>
        <p:nvPicPr>
          <p:cNvPr id="6" name="Picture 5">
            <a:extLst>
              <a:ext uri="{FF2B5EF4-FFF2-40B4-BE49-F238E27FC236}">
                <a16:creationId xmlns:a16="http://schemas.microsoft.com/office/drawing/2014/main" id="{6312DBFC-AC2E-D93C-C4D3-80270CA98E4A}"/>
              </a:ext>
            </a:extLst>
          </p:cNvPr>
          <p:cNvPicPr>
            <a:picLocks noChangeAspect="1"/>
          </p:cNvPicPr>
          <p:nvPr/>
        </p:nvPicPr>
        <p:blipFill>
          <a:blip r:embed="rId2"/>
          <a:stretch>
            <a:fillRect/>
          </a:stretch>
        </p:blipFill>
        <p:spPr>
          <a:xfrm>
            <a:off x="6154942" y="966389"/>
            <a:ext cx="5874498" cy="4925222"/>
          </a:xfrm>
          <a:prstGeom prst="rect">
            <a:avLst/>
          </a:prstGeom>
          <a:ln w="3175">
            <a:solidFill>
              <a:schemeClr val="tx1"/>
            </a:solidFill>
          </a:ln>
        </p:spPr>
      </p:pic>
    </p:spTree>
    <p:extLst>
      <p:ext uri="{BB962C8B-B14F-4D97-AF65-F5344CB8AC3E}">
        <p14:creationId xmlns:p14="http://schemas.microsoft.com/office/powerpoint/2010/main" val="3884108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D1CD1-C479-512D-50B2-60D5C721F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7685A-F154-E421-B793-E208A8D52125}"/>
              </a:ext>
            </a:extLst>
          </p:cNvPr>
          <p:cNvSpPr>
            <a:spLocks noGrp="1"/>
          </p:cNvSpPr>
          <p:nvPr>
            <p:ph type="title"/>
          </p:nvPr>
        </p:nvSpPr>
        <p:spPr>
          <a:xfrm>
            <a:off x="838200" y="52038"/>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F46FEA81-ED98-E300-7AB9-378D1817F71F}"/>
              </a:ext>
            </a:extLst>
          </p:cNvPr>
          <p:cNvSpPr>
            <a:spLocks noGrp="1"/>
          </p:cNvSpPr>
          <p:nvPr>
            <p:ph idx="1"/>
          </p:nvPr>
        </p:nvSpPr>
        <p:spPr>
          <a:xfrm>
            <a:off x="497840" y="1198880"/>
            <a:ext cx="11206480" cy="5232400"/>
          </a:xfrm>
        </p:spPr>
        <p:txBody>
          <a:bodyPr>
            <a:normAutofit/>
          </a:bodyPr>
          <a:lstStyle/>
          <a:p>
            <a:pPr marL="0" indent="0">
              <a:buNone/>
            </a:pPr>
            <a:r>
              <a:rPr lang="en-US" sz="3600" b="1" dirty="0">
                <a:latin typeface="+mj-lt"/>
              </a:rPr>
              <a:t>VGG16 and Siamese Model </a:t>
            </a:r>
          </a:p>
          <a:p>
            <a:pPr marL="0" indent="0">
              <a:buNone/>
            </a:pPr>
            <a:endParaRPr lang="en-US" sz="3200" b="1" dirty="0">
              <a:latin typeface="+mj-lt"/>
            </a:endParaRPr>
          </a:p>
        </p:txBody>
      </p:sp>
      <p:sp>
        <p:nvSpPr>
          <p:cNvPr id="4" name="Footer Placeholder 3">
            <a:extLst>
              <a:ext uri="{FF2B5EF4-FFF2-40B4-BE49-F238E27FC236}">
                <a16:creationId xmlns:a16="http://schemas.microsoft.com/office/drawing/2014/main" id="{DCF37673-0DC3-4BA2-AF2C-954934947969}"/>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F86BC347-BAD5-885B-F526-A81E722B90F3}"/>
              </a:ext>
            </a:extLst>
          </p:cNvPr>
          <p:cNvSpPr>
            <a:spLocks noGrp="1"/>
          </p:cNvSpPr>
          <p:nvPr>
            <p:ph type="sldNum" sz="quarter" idx="12"/>
          </p:nvPr>
        </p:nvSpPr>
        <p:spPr/>
        <p:txBody>
          <a:bodyPr/>
          <a:lstStyle/>
          <a:p>
            <a:fld id="{90EDC104-672A-4227-99C4-0E2CC007FDBA}" type="slidenum">
              <a:rPr lang="en-IN" smtClean="0"/>
              <a:t>18</a:t>
            </a:fld>
            <a:endParaRPr lang="en-IN"/>
          </a:p>
        </p:txBody>
      </p:sp>
      <p:pic>
        <p:nvPicPr>
          <p:cNvPr id="7" name="Picture 6">
            <a:extLst>
              <a:ext uri="{FF2B5EF4-FFF2-40B4-BE49-F238E27FC236}">
                <a16:creationId xmlns:a16="http://schemas.microsoft.com/office/drawing/2014/main" id="{7F346750-6C51-1637-E1F2-C0F5BE9836D0}"/>
              </a:ext>
            </a:extLst>
          </p:cNvPr>
          <p:cNvPicPr>
            <a:picLocks noChangeAspect="1"/>
          </p:cNvPicPr>
          <p:nvPr/>
        </p:nvPicPr>
        <p:blipFill rotWithShape="1">
          <a:blip r:embed="rId2"/>
          <a:srcRect l="2760" t="73922" r="12981" b="-978"/>
          <a:stretch/>
        </p:blipFill>
        <p:spPr bwMode="auto">
          <a:xfrm>
            <a:off x="655319" y="1940877"/>
            <a:ext cx="9979341" cy="710883"/>
          </a:xfrm>
          <a:prstGeom prst="rect">
            <a:avLst/>
          </a:prstGeom>
          <a:ln w="3175">
            <a:solidFill>
              <a:schemeClr val="tx1"/>
            </a:solid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DDB34BE0-F582-A891-F486-20E9CC6C17E3}"/>
              </a:ext>
            </a:extLst>
          </p:cNvPr>
          <p:cNvSpPr txBox="1"/>
          <p:nvPr/>
        </p:nvSpPr>
        <p:spPr>
          <a:xfrm>
            <a:off x="640080" y="2860148"/>
            <a:ext cx="10414000" cy="2087495"/>
          </a:xfrm>
          <a:prstGeom prst="rect">
            <a:avLst/>
          </a:prstGeom>
          <a:noFill/>
        </p:spPr>
        <p:txBody>
          <a:bodyPr wrap="square">
            <a:spAutoFit/>
          </a:bodyPr>
          <a:lstStyle/>
          <a:p>
            <a:pPr>
              <a:lnSpc>
                <a:spcPct val="115000"/>
              </a:lnSpc>
              <a:spcAft>
                <a:spcPts val="800"/>
              </a:spcAft>
              <a:tabLst>
                <a:tab pos="2846705" algn="ctr"/>
              </a:tabLst>
            </a:pPr>
            <a:r>
              <a:rPr lang="en-US" sz="1800" b="1" dirty="0">
                <a:solidFill>
                  <a:srgbClr val="000000"/>
                </a:solidFill>
                <a:effectLst/>
                <a:latin typeface="+mj-lt"/>
                <a:ea typeface="Times New Roman" panose="02020603050405020304" pitchFamily="18" charset="0"/>
                <a:cs typeface="Times New Roman" panose="02020603050405020304" pitchFamily="18" charset="0"/>
              </a:rPr>
              <a:t>Test Loss: </a:t>
            </a:r>
            <a:r>
              <a:rPr lang="en-US" sz="1800" dirty="0">
                <a:solidFill>
                  <a:srgbClr val="000000"/>
                </a:solidFill>
                <a:effectLst/>
                <a:latin typeface="+mj-lt"/>
                <a:ea typeface="Times New Roman" panose="02020603050405020304" pitchFamily="18" charset="0"/>
                <a:cs typeface="Times New Roman" panose="02020603050405020304" pitchFamily="18" charset="0"/>
              </a:rPr>
              <a:t>The loss function value on the test data is 0.6933. In the context of binary classification, a loss value close to 0.693 (which is the -log (0.5)) suggests that the model is doing no better than random guessing. This is especially the case when you have a balanced dataset (equal number of positive and negative pairs).</a:t>
            </a:r>
            <a:endParaRPr lang="en-IN" sz="1600" dirty="0">
              <a:effectLst/>
              <a:latin typeface="+mj-lt"/>
              <a:ea typeface="Calibri" panose="020F0502020204030204" pitchFamily="34" charset="0"/>
              <a:cs typeface="Times New Roman" panose="02020603050405020304" pitchFamily="18" charset="0"/>
            </a:endParaRPr>
          </a:p>
          <a:p>
            <a:pPr>
              <a:lnSpc>
                <a:spcPct val="115000"/>
              </a:lnSpc>
              <a:spcAft>
                <a:spcPts val="800"/>
              </a:spcAft>
              <a:tabLst>
                <a:tab pos="2846705" algn="ctr"/>
              </a:tabLst>
            </a:pPr>
            <a:r>
              <a:rPr lang="en-US" sz="1800" b="1" dirty="0">
                <a:solidFill>
                  <a:srgbClr val="000000"/>
                </a:solidFill>
                <a:effectLst/>
                <a:latin typeface="+mj-lt"/>
                <a:ea typeface="Times New Roman" panose="02020603050405020304" pitchFamily="18" charset="0"/>
                <a:cs typeface="Times New Roman" panose="02020603050405020304" pitchFamily="18" charset="0"/>
              </a:rPr>
              <a:t>Test Accuracy: </a:t>
            </a:r>
            <a:r>
              <a:rPr lang="en-US" sz="1800" dirty="0">
                <a:solidFill>
                  <a:srgbClr val="000000"/>
                </a:solidFill>
                <a:effectLst/>
                <a:latin typeface="+mj-lt"/>
                <a:ea typeface="Times New Roman" panose="02020603050405020304" pitchFamily="18" charset="0"/>
                <a:cs typeface="Times New Roman" panose="02020603050405020304" pitchFamily="18" charset="0"/>
              </a:rPr>
              <a:t>The accuracy on the test set is 0.4899, which is just below 50%. Since accuracy is the number of correct predictions divided by the total number of predictions, an accuracy of around 0.5 in a two-class problem indicates that the model's predictive capability is not better than flipping a coin.</a:t>
            </a:r>
            <a:endParaRPr lang="en-IN" sz="16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36194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D1CD1-C479-512D-50B2-60D5C721F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7685A-F154-E421-B793-E208A8D52125}"/>
              </a:ext>
            </a:extLst>
          </p:cNvPr>
          <p:cNvSpPr>
            <a:spLocks noGrp="1"/>
          </p:cNvSpPr>
          <p:nvPr>
            <p:ph type="title"/>
          </p:nvPr>
        </p:nvSpPr>
        <p:spPr>
          <a:xfrm>
            <a:off x="838200" y="52038"/>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F46FEA81-ED98-E300-7AB9-378D1817F71F}"/>
              </a:ext>
            </a:extLst>
          </p:cNvPr>
          <p:cNvSpPr>
            <a:spLocks noGrp="1"/>
          </p:cNvSpPr>
          <p:nvPr>
            <p:ph idx="1"/>
          </p:nvPr>
        </p:nvSpPr>
        <p:spPr>
          <a:xfrm>
            <a:off x="497840" y="1198880"/>
            <a:ext cx="11206480" cy="5232400"/>
          </a:xfrm>
        </p:spPr>
        <p:txBody>
          <a:bodyPr>
            <a:normAutofit/>
          </a:bodyPr>
          <a:lstStyle/>
          <a:p>
            <a:pPr marL="0" indent="0">
              <a:buNone/>
            </a:pPr>
            <a:r>
              <a:rPr lang="en-US" sz="3600" b="1" dirty="0">
                <a:latin typeface="+mj-lt"/>
              </a:rPr>
              <a:t>VGG16 and Siamese Model </a:t>
            </a:r>
          </a:p>
          <a:p>
            <a:pPr marL="0" indent="0">
              <a:buNone/>
            </a:pPr>
            <a:endParaRPr lang="en-US" sz="3200" b="1" dirty="0">
              <a:latin typeface="+mj-lt"/>
            </a:endParaRPr>
          </a:p>
        </p:txBody>
      </p:sp>
      <p:sp>
        <p:nvSpPr>
          <p:cNvPr id="4" name="Footer Placeholder 3">
            <a:extLst>
              <a:ext uri="{FF2B5EF4-FFF2-40B4-BE49-F238E27FC236}">
                <a16:creationId xmlns:a16="http://schemas.microsoft.com/office/drawing/2014/main" id="{DCF37673-0DC3-4BA2-AF2C-954934947969}"/>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F86BC347-BAD5-885B-F526-A81E722B90F3}"/>
              </a:ext>
            </a:extLst>
          </p:cNvPr>
          <p:cNvSpPr>
            <a:spLocks noGrp="1"/>
          </p:cNvSpPr>
          <p:nvPr>
            <p:ph type="sldNum" sz="quarter" idx="12"/>
          </p:nvPr>
        </p:nvSpPr>
        <p:spPr/>
        <p:txBody>
          <a:bodyPr/>
          <a:lstStyle/>
          <a:p>
            <a:fld id="{90EDC104-672A-4227-99C4-0E2CC007FDBA}" type="slidenum">
              <a:rPr lang="en-IN" smtClean="0"/>
              <a:t>19</a:t>
            </a:fld>
            <a:endParaRPr lang="en-IN"/>
          </a:p>
        </p:txBody>
      </p:sp>
      <p:pic>
        <p:nvPicPr>
          <p:cNvPr id="6" name="Picture 5">
            <a:extLst>
              <a:ext uri="{FF2B5EF4-FFF2-40B4-BE49-F238E27FC236}">
                <a16:creationId xmlns:a16="http://schemas.microsoft.com/office/drawing/2014/main" id="{D00242FE-F69B-8EFB-76F3-D6E309F72950}"/>
              </a:ext>
            </a:extLst>
          </p:cNvPr>
          <p:cNvPicPr>
            <a:picLocks noChangeAspect="1"/>
          </p:cNvPicPr>
          <p:nvPr/>
        </p:nvPicPr>
        <p:blipFill>
          <a:blip r:embed="rId2"/>
          <a:stretch>
            <a:fillRect/>
          </a:stretch>
        </p:blipFill>
        <p:spPr>
          <a:xfrm>
            <a:off x="640079" y="1846302"/>
            <a:ext cx="5846851" cy="3812817"/>
          </a:xfrm>
          <a:prstGeom prst="rect">
            <a:avLst/>
          </a:prstGeom>
          <a:ln w="3175">
            <a:solidFill>
              <a:schemeClr val="tx1"/>
            </a:solidFill>
          </a:ln>
        </p:spPr>
      </p:pic>
      <p:sp>
        <p:nvSpPr>
          <p:cNvPr id="10" name="TextBox 9">
            <a:extLst>
              <a:ext uri="{FF2B5EF4-FFF2-40B4-BE49-F238E27FC236}">
                <a16:creationId xmlns:a16="http://schemas.microsoft.com/office/drawing/2014/main" id="{86F2200C-C66A-2D3D-5A03-F50D129A61E3}"/>
              </a:ext>
            </a:extLst>
          </p:cNvPr>
          <p:cNvSpPr txBox="1"/>
          <p:nvPr/>
        </p:nvSpPr>
        <p:spPr>
          <a:xfrm>
            <a:off x="6949440" y="1476052"/>
            <a:ext cx="4744720" cy="4314707"/>
          </a:xfrm>
          <a:prstGeom prst="rect">
            <a:avLst/>
          </a:prstGeom>
          <a:noFill/>
        </p:spPr>
        <p:txBody>
          <a:bodyPr wrap="square">
            <a:spAutoFit/>
          </a:bodyPr>
          <a:lstStyle/>
          <a:p>
            <a:pPr>
              <a:lnSpc>
                <a:spcPct val="115000"/>
              </a:lnSpc>
              <a:spcAft>
                <a:spcPts val="800"/>
              </a:spcAft>
              <a:tabLst>
                <a:tab pos="2846705" algn="ctr"/>
              </a:tabLst>
            </a:pPr>
            <a:r>
              <a:rPr lang="en-US" sz="2400" dirty="0">
                <a:solidFill>
                  <a:srgbClr val="000000"/>
                </a:solidFill>
                <a:effectLst/>
                <a:latin typeface="+mj-lt"/>
                <a:ea typeface="Times New Roman" panose="02020603050405020304" pitchFamily="18" charset="0"/>
                <a:cs typeface="Times New Roman" panose="02020603050405020304" pitchFamily="18" charset="0"/>
              </a:rPr>
              <a:t>The model predicts the similarity score between two images. The output shows a similarity score of 0.5122. This score, typically between 0 and 1, indicates how similar the two images are, according to the model. A score close to 0.5 may suggest that the model is uncertain whether the images are of the same person or not.</a:t>
            </a:r>
            <a:endParaRPr lang="en-IN" sz="20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0411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D1CD1-C479-512D-50B2-60D5C721F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7685A-F154-E421-B793-E208A8D52125}"/>
              </a:ext>
            </a:extLst>
          </p:cNvPr>
          <p:cNvSpPr>
            <a:spLocks noGrp="1"/>
          </p:cNvSpPr>
          <p:nvPr>
            <p:ph type="title"/>
          </p:nvPr>
        </p:nvSpPr>
        <p:spPr>
          <a:xfrm>
            <a:off x="838200" y="52038"/>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F46FEA81-ED98-E300-7AB9-378D1817F71F}"/>
              </a:ext>
            </a:extLst>
          </p:cNvPr>
          <p:cNvSpPr>
            <a:spLocks noGrp="1"/>
          </p:cNvSpPr>
          <p:nvPr>
            <p:ph idx="1"/>
          </p:nvPr>
        </p:nvSpPr>
        <p:spPr>
          <a:xfrm>
            <a:off x="497840" y="1198880"/>
            <a:ext cx="11206480" cy="5232400"/>
          </a:xfrm>
        </p:spPr>
        <p:txBody>
          <a:bodyPr>
            <a:normAutofit/>
          </a:bodyPr>
          <a:lstStyle/>
          <a:p>
            <a:pPr marL="0" indent="0">
              <a:buNone/>
            </a:pPr>
            <a:r>
              <a:rPr lang="en-US" sz="3600" b="1" dirty="0">
                <a:latin typeface="+mj-lt"/>
              </a:rPr>
              <a:t>VGG16 and Siamese Model </a:t>
            </a:r>
          </a:p>
          <a:p>
            <a:pPr marL="0" indent="0">
              <a:buNone/>
            </a:pPr>
            <a:endParaRPr lang="en-US" sz="3200" b="1" dirty="0">
              <a:latin typeface="+mj-lt"/>
            </a:endParaRPr>
          </a:p>
        </p:txBody>
      </p:sp>
      <p:sp>
        <p:nvSpPr>
          <p:cNvPr id="4" name="Footer Placeholder 3">
            <a:extLst>
              <a:ext uri="{FF2B5EF4-FFF2-40B4-BE49-F238E27FC236}">
                <a16:creationId xmlns:a16="http://schemas.microsoft.com/office/drawing/2014/main" id="{DCF37673-0DC3-4BA2-AF2C-954934947969}"/>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F86BC347-BAD5-885B-F526-A81E722B90F3}"/>
              </a:ext>
            </a:extLst>
          </p:cNvPr>
          <p:cNvSpPr>
            <a:spLocks noGrp="1"/>
          </p:cNvSpPr>
          <p:nvPr>
            <p:ph type="sldNum" sz="quarter" idx="12"/>
          </p:nvPr>
        </p:nvSpPr>
        <p:spPr/>
        <p:txBody>
          <a:bodyPr/>
          <a:lstStyle/>
          <a:p>
            <a:fld id="{90EDC104-672A-4227-99C4-0E2CC007FDBA}" type="slidenum">
              <a:rPr lang="en-IN" smtClean="0"/>
              <a:t>20</a:t>
            </a:fld>
            <a:endParaRPr lang="en-IN"/>
          </a:p>
        </p:txBody>
      </p:sp>
      <p:pic>
        <p:nvPicPr>
          <p:cNvPr id="7" name="Picture 6">
            <a:extLst>
              <a:ext uri="{FF2B5EF4-FFF2-40B4-BE49-F238E27FC236}">
                <a16:creationId xmlns:a16="http://schemas.microsoft.com/office/drawing/2014/main" id="{1BC686F8-A667-B95F-3482-79F7B8E6D301}"/>
              </a:ext>
            </a:extLst>
          </p:cNvPr>
          <p:cNvPicPr>
            <a:picLocks noChangeAspect="1"/>
          </p:cNvPicPr>
          <p:nvPr/>
        </p:nvPicPr>
        <p:blipFill rotWithShape="1">
          <a:blip r:embed="rId2"/>
          <a:srcRect t="55918" r="13376" b="11149"/>
          <a:stretch/>
        </p:blipFill>
        <p:spPr bwMode="auto">
          <a:xfrm>
            <a:off x="636587" y="1835150"/>
            <a:ext cx="5609188" cy="2299970"/>
          </a:xfrm>
          <a:prstGeom prst="rect">
            <a:avLst/>
          </a:prstGeom>
          <a:ln w="3175">
            <a:solidFill>
              <a:schemeClr val="tx1"/>
            </a:solid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59C980BF-0B4C-054C-CA3F-FFB9BFCF967C}"/>
              </a:ext>
            </a:extLst>
          </p:cNvPr>
          <p:cNvSpPr txBox="1"/>
          <p:nvPr/>
        </p:nvSpPr>
        <p:spPr>
          <a:xfrm>
            <a:off x="6437228" y="244082"/>
            <a:ext cx="5500772" cy="4451155"/>
          </a:xfrm>
          <a:prstGeom prst="rect">
            <a:avLst/>
          </a:prstGeom>
          <a:noFill/>
        </p:spPr>
        <p:txBody>
          <a:bodyPr wrap="square">
            <a:spAutoFit/>
          </a:bodyPr>
          <a:lstStyle/>
          <a:p>
            <a:pPr>
              <a:lnSpc>
                <a:spcPct val="115000"/>
              </a:lnSpc>
              <a:spcAft>
                <a:spcPts val="800"/>
              </a:spcAft>
              <a:tabLst>
                <a:tab pos="2846705" algn="ctr"/>
              </a:tabLst>
            </a:pPr>
            <a:r>
              <a:rPr lang="en-US" sz="1400" dirty="0">
                <a:solidFill>
                  <a:srgbClr val="000000"/>
                </a:solidFill>
                <a:effectLst/>
                <a:latin typeface="+mj-lt"/>
                <a:ea typeface="Times New Roman" panose="02020603050405020304" pitchFamily="18" charset="0"/>
                <a:cs typeface="Times New Roman" panose="02020603050405020304" pitchFamily="18" charset="0"/>
              </a:rPr>
              <a:t>The classification report and confusion matrix are generated for the predictions made by the model. The classification report shows the following metrics for each class (0 and 1):</a:t>
            </a:r>
            <a:endParaRPr lang="en-IN" sz="1400" dirty="0">
              <a:effectLst/>
              <a:latin typeface="+mj-lt"/>
              <a:ea typeface="Calibri" panose="020F0502020204030204" pitchFamily="34" charset="0"/>
              <a:cs typeface="Times New Roman" panose="02020603050405020304" pitchFamily="18" charset="0"/>
            </a:endParaRPr>
          </a:p>
          <a:p>
            <a:pPr>
              <a:lnSpc>
                <a:spcPct val="115000"/>
              </a:lnSpc>
              <a:spcAft>
                <a:spcPts val="800"/>
              </a:spcAft>
              <a:tabLst>
                <a:tab pos="2846705" algn="ctr"/>
              </a:tabLst>
            </a:pPr>
            <a:r>
              <a:rPr lang="en-US" sz="1400" b="1" dirty="0">
                <a:solidFill>
                  <a:srgbClr val="000000"/>
                </a:solidFill>
                <a:effectLst/>
                <a:latin typeface="+mj-lt"/>
                <a:ea typeface="Times New Roman" panose="02020603050405020304" pitchFamily="18" charset="0"/>
                <a:cs typeface="Times New Roman" panose="02020603050405020304" pitchFamily="18" charset="0"/>
              </a:rPr>
              <a:t>Precision:</a:t>
            </a:r>
            <a:r>
              <a:rPr lang="en-US" sz="1400" dirty="0">
                <a:solidFill>
                  <a:srgbClr val="000000"/>
                </a:solidFill>
                <a:effectLst/>
                <a:latin typeface="+mj-lt"/>
                <a:ea typeface="Times New Roman" panose="02020603050405020304" pitchFamily="18" charset="0"/>
                <a:cs typeface="Times New Roman" panose="02020603050405020304" pitchFamily="18" charset="0"/>
              </a:rPr>
              <a:t> For class 0, it is 0.44, and for class 1, it is 0.36. Precision tells us out of all the instances the model predicted for a class, how many were actually correct. Low precision for both classes indicate many false positives.</a:t>
            </a:r>
            <a:endParaRPr lang="en-IN" sz="1400" dirty="0">
              <a:effectLst/>
              <a:latin typeface="+mj-lt"/>
              <a:ea typeface="Calibri" panose="020F0502020204030204" pitchFamily="34" charset="0"/>
              <a:cs typeface="Times New Roman" panose="02020603050405020304" pitchFamily="18" charset="0"/>
            </a:endParaRPr>
          </a:p>
          <a:p>
            <a:pPr>
              <a:lnSpc>
                <a:spcPct val="115000"/>
              </a:lnSpc>
              <a:spcAft>
                <a:spcPts val="800"/>
              </a:spcAft>
              <a:tabLst>
                <a:tab pos="2846705" algn="ctr"/>
              </a:tabLst>
            </a:pPr>
            <a:r>
              <a:rPr lang="en-US" sz="1400" b="1" dirty="0">
                <a:solidFill>
                  <a:srgbClr val="000000"/>
                </a:solidFill>
                <a:effectLst/>
                <a:latin typeface="+mj-lt"/>
                <a:ea typeface="Times New Roman" panose="02020603050405020304" pitchFamily="18" charset="0"/>
                <a:cs typeface="Times New Roman" panose="02020603050405020304" pitchFamily="18" charset="0"/>
              </a:rPr>
              <a:t>Recall:</a:t>
            </a:r>
            <a:r>
              <a:rPr lang="en-US" sz="1400" dirty="0">
                <a:solidFill>
                  <a:srgbClr val="000000"/>
                </a:solidFill>
                <a:effectLst/>
                <a:latin typeface="+mj-lt"/>
                <a:ea typeface="Times New Roman" panose="02020603050405020304" pitchFamily="18" charset="0"/>
                <a:cs typeface="Times New Roman" panose="02020603050405020304" pitchFamily="18" charset="0"/>
              </a:rPr>
              <a:t> For class 0, the recall is 0.59, and for class 1, it is 0.23. Recall tells us out of all the actual instances of a class, how many the model correctly predicted. The model is better at identifying class 0 than class 1, but neither are particularly good.</a:t>
            </a:r>
            <a:endParaRPr lang="en-IN" sz="1400" dirty="0">
              <a:effectLst/>
              <a:latin typeface="+mj-lt"/>
              <a:ea typeface="Calibri" panose="020F0502020204030204" pitchFamily="34" charset="0"/>
              <a:cs typeface="Times New Roman" panose="02020603050405020304" pitchFamily="18" charset="0"/>
            </a:endParaRPr>
          </a:p>
          <a:p>
            <a:pPr>
              <a:lnSpc>
                <a:spcPct val="115000"/>
              </a:lnSpc>
              <a:spcAft>
                <a:spcPts val="800"/>
              </a:spcAft>
              <a:tabLst>
                <a:tab pos="2846705" algn="ctr"/>
              </a:tabLst>
            </a:pPr>
            <a:r>
              <a:rPr lang="en-US" sz="1400" b="1" dirty="0">
                <a:solidFill>
                  <a:srgbClr val="000000"/>
                </a:solidFill>
                <a:effectLst/>
                <a:latin typeface="+mj-lt"/>
                <a:ea typeface="Times New Roman" panose="02020603050405020304" pitchFamily="18" charset="0"/>
                <a:cs typeface="Times New Roman" panose="02020603050405020304" pitchFamily="18" charset="0"/>
              </a:rPr>
              <a:t>F1-score:</a:t>
            </a:r>
            <a:r>
              <a:rPr lang="en-US" sz="1400" dirty="0">
                <a:solidFill>
                  <a:srgbClr val="000000"/>
                </a:solidFill>
                <a:effectLst/>
                <a:latin typeface="+mj-lt"/>
                <a:ea typeface="Times New Roman" panose="02020603050405020304" pitchFamily="18" charset="0"/>
                <a:cs typeface="Times New Roman" panose="02020603050405020304" pitchFamily="18" charset="0"/>
              </a:rPr>
              <a:t> For class 0, it's 0.50, and for class 1, it's 0.28. The F1-score is a harmonic mean of precision and recall, and a low F1-score for both classes indicate poor performance.</a:t>
            </a:r>
            <a:endParaRPr lang="en-IN" sz="1400" dirty="0">
              <a:effectLst/>
              <a:latin typeface="+mj-lt"/>
              <a:ea typeface="Calibri" panose="020F0502020204030204" pitchFamily="34" charset="0"/>
              <a:cs typeface="Times New Roman" panose="02020603050405020304" pitchFamily="18" charset="0"/>
            </a:endParaRPr>
          </a:p>
          <a:p>
            <a:pPr>
              <a:lnSpc>
                <a:spcPct val="115000"/>
              </a:lnSpc>
              <a:spcAft>
                <a:spcPts val="800"/>
              </a:spcAft>
              <a:tabLst>
                <a:tab pos="2846705" algn="ctr"/>
              </a:tabLst>
            </a:pPr>
            <a:r>
              <a:rPr lang="en-US" sz="1400" b="1" dirty="0">
                <a:solidFill>
                  <a:srgbClr val="000000"/>
                </a:solidFill>
                <a:effectLst/>
                <a:latin typeface="+mj-lt"/>
                <a:ea typeface="Times New Roman" panose="02020603050405020304" pitchFamily="18" charset="0"/>
                <a:cs typeface="Times New Roman" panose="02020603050405020304" pitchFamily="18" charset="0"/>
              </a:rPr>
              <a:t>Support: </a:t>
            </a:r>
            <a:r>
              <a:rPr lang="en-US" sz="1400" dirty="0">
                <a:solidFill>
                  <a:srgbClr val="000000"/>
                </a:solidFill>
                <a:effectLst/>
                <a:latin typeface="+mj-lt"/>
                <a:ea typeface="Times New Roman" panose="02020603050405020304" pitchFamily="18" charset="0"/>
                <a:cs typeface="Times New Roman" panose="02020603050405020304" pitchFamily="18" charset="0"/>
              </a:rPr>
              <a:t>This indicates the number of actual occurrences of each class. Both classes have a support of 98, suggesting the test set is balanced.</a:t>
            </a:r>
            <a:endParaRPr lang="en-IN" sz="1400" dirty="0">
              <a:effectLst/>
              <a:latin typeface="+mj-lt"/>
              <a:ea typeface="Calibri" panose="020F050202020403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33AB4084-7D7A-DD4F-B774-101264C648D3}"/>
              </a:ext>
            </a:extLst>
          </p:cNvPr>
          <p:cNvGraphicFramePr>
            <a:graphicFrameLocks noGrp="1"/>
          </p:cNvGraphicFramePr>
          <p:nvPr>
            <p:extLst>
              <p:ext uri="{D42A27DB-BD31-4B8C-83A1-F6EECF244321}">
                <p14:modId xmlns:p14="http://schemas.microsoft.com/office/powerpoint/2010/main" val="4204241585"/>
              </p:ext>
            </p:extLst>
          </p:nvPr>
        </p:nvGraphicFramePr>
        <p:xfrm>
          <a:off x="636587" y="4620514"/>
          <a:ext cx="2685732" cy="1597407"/>
        </p:xfrm>
        <a:graphic>
          <a:graphicData uri="http://schemas.openxmlformats.org/drawingml/2006/table">
            <a:tbl>
              <a:tblPr firstRow="1" firstCol="1" bandRow="1">
                <a:tableStyleId>{5C22544A-7EE6-4342-B048-85BDC9FD1C3A}</a:tableStyleId>
              </a:tblPr>
              <a:tblGrid>
                <a:gridCol w="895244">
                  <a:extLst>
                    <a:ext uri="{9D8B030D-6E8A-4147-A177-3AD203B41FA5}">
                      <a16:colId xmlns:a16="http://schemas.microsoft.com/office/drawing/2014/main" val="2307784950"/>
                    </a:ext>
                  </a:extLst>
                </a:gridCol>
                <a:gridCol w="895244">
                  <a:extLst>
                    <a:ext uri="{9D8B030D-6E8A-4147-A177-3AD203B41FA5}">
                      <a16:colId xmlns:a16="http://schemas.microsoft.com/office/drawing/2014/main" val="530091341"/>
                    </a:ext>
                  </a:extLst>
                </a:gridCol>
                <a:gridCol w="895244">
                  <a:extLst>
                    <a:ext uri="{9D8B030D-6E8A-4147-A177-3AD203B41FA5}">
                      <a16:colId xmlns:a16="http://schemas.microsoft.com/office/drawing/2014/main" val="2461994932"/>
                    </a:ext>
                  </a:extLst>
                </a:gridCol>
              </a:tblGrid>
              <a:tr h="532469">
                <a:tc>
                  <a:txBody>
                    <a:bodyPr/>
                    <a:lstStyle/>
                    <a:p>
                      <a:pPr algn="ctr">
                        <a:lnSpc>
                          <a:spcPct val="107000"/>
                        </a:lnSpc>
                        <a:spcAft>
                          <a:spcPts val="800"/>
                        </a:spcAft>
                      </a:pPr>
                      <a:r>
                        <a:rPr lang="en-IN" sz="1050" kern="100">
                          <a:effectLst/>
                        </a:rPr>
                        <a:t>Confusion Matrix</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07000"/>
                        </a:lnSpc>
                        <a:spcAft>
                          <a:spcPts val="800"/>
                        </a:spcAft>
                      </a:pPr>
                      <a:r>
                        <a:rPr lang="en-IN" sz="1050" kern="100" dirty="0">
                          <a:effectLst/>
                        </a:rPr>
                        <a:t>Predicted: No</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07000"/>
                        </a:lnSpc>
                        <a:spcAft>
                          <a:spcPts val="800"/>
                        </a:spcAft>
                      </a:pPr>
                      <a:r>
                        <a:rPr lang="en-IN" sz="1050" kern="100">
                          <a:effectLst/>
                        </a:rPr>
                        <a:t>Predicted: Yes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3171599047"/>
                  </a:ext>
                </a:extLst>
              </a:tr>
              <a:tr h="532469">
                <a:tc>
                  <a:txBody>
                    <a:bodyPr/>
                    <a:lstStyle/>
                    <a:p>
                      <a:pPr>
                        <a:lnSpc>
                          <a:spcPct val="107000"/>
                        </a:lnSpc>
                        <a:spcAft>
                          <a:spcPts val="800"/>
                        </a:spcAft>
                      </a:pPr>
                      <a:r>
                        <a:rPr lang="en-IN" sz="1050" kern="100">
                          <a:effectLst/>
                        </a:rPr>
                        <a:t>Actual: No</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nSpc>
                          <a:spcPct val="107000"/>
                        </a:lnSpc>
                        <a:spcAft>
                          <a:spcPts val="800"/>
                        </a:spcAft>
                      </a:pPr>
                      <a:r>
                        <a:rPr lang="en-IN" sz="1050" kern="100" dirty="0">
                          <a:effectLst/>
                        </a:rPr>
                        <a:t>59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nSpc>
                          <a:spcPct val="107000"/>
                        </a:lnSpc>
                        <a:spcAft>
                          <a:spcPts val="800"/>
                        </a:spcAft>
                      </a:pPr>
                      <a:r>
                        <a:rPr lang="en-IN" sz="1050" kern="100">
                          <a:effectLst/>
                        </a:rPr>
                        <a:t>41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3644603964"/>
                  </a:ext>
                </a:extLst>
              </a:tr>
              <a:tr h="532469">
                <a:tc>
                  <a:txBody>
                    <a:bodyPr/>
                    <a:lstStyle/>
                    <a:p>
                      <a:pPr>
                        <a:lnSpc>
                          <a:spcPct val="107000"/>
                        </a:lnSpc>
                        <a:spcAft>
                          <a:spcPts val="800"/>
                        </a:spcAft>
                      </a:pPr>
                      <a:r>
                        <a:rPr lang="en-IN" sz="1050" kern="100">
                          <a:effectLst/>
                        </a:rPr>
                        <a:t>Actual: Yes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nSpc>
                          <a:spcPct val="107000"/>
                        </a:lnSpc>
                        <a:spcAft>
                          <a:spcPts val="800"/>
                        </a:spcAft>
                      </a:pPr>
                      <a:r>
                        <a:rPr lang="en-IN" sz="1050" kern="100" dirty="0">
                          <a:effectLst/>
                        </a:rPr>
                        <a:t>75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nSpc>
                          <a:spcPct val="107000"/>
                        </a:lnSpc>
                        <a:spcAft>
                          <a:spcPts val="800"/>
                        </a:spcAft>
                      </a:pPr>
                      <a:r>
                        <a:rPr lang="en-IN" sz="1050" kern="100" dirty="0">
                          <a:effectLst/>
                        </a:rPr>
                        <a:t>23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2447335322"/>
                  </a:ext>
                </a:extLst>
              </a:tr>
            </a:tbl>
          </a:graphicData>
        </a:graphic>
      </p:graphicFrame>
      <p:sp>
        <p:nvSpPr>
          <p:cNvPr id="13" name="TextBox 12">
            <a:extLst>
              <a:ext uri="{FF2B5EF4-FFF2-40B4-BE49-F238E27FC236}">
                <a16:creationId xmlns:a16="http://schemas.microsoft.com/office/drawing/2014/main" id="{FABAD094-E607-D6D0-D49B-3ACEF0ADE1D4}"/>
              </a:ext>
            </a:extLst>
          </p:cNvPr>
          <p:cNvSpPr txBox="1"/>
          <p:nvPr/>
        </p:nvSpPr>
        <p:spPr>
          <a:xfrm>
            <a:off x="3591559" y="4752075"/>
            <a:ext cx="6958013" cy="1563185"/>
          </a:xfrm>
          <a:prstGeom prst="rect">
            <a:avLst/>
          </a:prstGeom>
          <a:noFill/>
        </p:spPr>
        <p:txBody>
          <a:bodyPr wrap="square">
            <a:spAutoFit/>
          </a:bodyPr>
          <a:lstStyle/>
          <a:p>
            <a:pPr marL="342900" lvl="0" indent="-342900">
              <a:lnSpc>
                <a:spcPct val="115000"/>
              </a:lnSpc>
              <a:buFont typeface="Symbol" panose="05050102010706020507" pitchFamily="18" charset="2"/>
              <a:buChar char=""/>
              <a:tabLst>
                <a:tab pos="2846705" algn="ctr"/>
              </a:tabLst>
            </a:pPr>
            <a:r>
              <a:rPr lang="en-US" sz="1400" dirty="0">
                <a:solidFill>
                  <a:srgbClr val="000000"/>
                </a:solidFill>
                <a:effectLst/>
                <a:latin typeface="+mj-lt"/>
                <a:ea typeface="Times New Roman" panose="02020603050405020304" pitchFamily="18" charset="0"/>
                <a:cs typeface="Times New Roman" panose="02020603050405020304" pitchFamily="18" charset="0"/>
              </a:rPr>
              <a:t>The high number of false negatives suggests the model is conservative in predicting positives.</a:t>
            </a:r>
            <a:endParaRPr lang="en-IN" sz="1400" dirty="0">
              <a:effectLst/>
              <a:latin typeface="+mj-lt"/>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tabLst>
                <a:tab pos="2846705" algn="ctr"/>
              </a:tabLst>
            </a:pPr>
            <a:r>
              <a:rPr lang="en-US" sz="1400" dirty="0">
                <a:solidFill>
                  <a:srgbClr val="000000"/>
                </a:solidFill>
                <a:effectLst/>
                <a:latin typeface="+mj-lt"/>
                <a:ea typeface="Times New Roman" panose="02020603050405020304" pitchFamily="18" charset="0"/>
                <a:cs typeface="Times New Roman" panose="02020603050405020304" pitchFamily="18" charset="0"/>
              </a:rPr>
              <a:t>The relatively balanced number of true negatives and false positives indicates the model is somewhat indiscriminate in its predictions.</a:t>
            </a:r>
            <a:endParaRPr lang="en-IN" sz="1400" dirty="0">
              <a:effectLst/>
              <a:latin typeface="+mj-lt"/>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Symbol" panose="05050102010706020507" pitchFamily="18" charset="2"/>
              <a:buChar char=""/>
              <a:tabLst>
                <a:tab pos="2846705" algn="ctr"/>
              </a:tabLst>
            </a:pPr>
            <a:r>
              <a:rPr lang="en-US" sz="1400" dirty="0">
                <a:solidFill>
                  <a:srgbClr val="000000"/>
                </a:solidFill>
                <a:effectLst/>
                <a:latin typeface="+mj-lt"/>
                <a:ea typeface="Times New Roman" panose="02020603050405020304" pitchFamily="18" charset="0"/>
                <a:cs typeface="Times New Roman" panose="02020603050405020304" pitchFamily="18" charset="0"/>
              </a:rPr>
              <a:t>Overall, the model is underperforming in both separating the classes and identifying positives accurately.</a:t>
            </a:r>
            <a:endParaRPr lang="en-IN" sz="14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6639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Conclusion</a:t>
            </a:r>
            <a:endParaRPr lang="en-IN" b="1" dirty="0">
              <a:latin typeface="Arial Narrow" panose="020B0606020202030204" pitchFamily="34" charset="0"/>
            </a:endParaRPr>
          </a:p>
        </p:txBody>
      </p:sp>
      <p:sp>
        <p:nvSpPr>
          <p:cNvPr id="3" name="Content Placeholder 2"/>
          <p:cNvSpPr>
            <a:spLocks noGrp="1"/>
          </p:cNvSpPr>
          <p:nvPr>
            <p:ph idx="1"/>
          </p:nvPr>
        </p:nvSpPr>
        <p:spPr>
          <a:xfrm>
            <a:off x="198120" y="1056640"/>
            <a:ext cx="11795760" cy="4906963"/>
          </a:xfrm>
        </p:spPr>
        <p:txBody>
          <a:bodyPr>
            <a:normAutofit/>
          </a:bodyPr>
          <a:lstStyle/>
          <a:p>
            <a:endParaRPr lang="en-US" dirty="0">
              <a:latin typeface="+mj-lt"/>
            </a:endParaRPr>
          </a:p>
          <a:p>
            <a:r>
              <a:rPr lang="en-US" dirty="0">
                <a:latin typeface="+mj-lt"/>
              </a:rPr>
              <a:t>Techniques for improved facial feature differentiation were explored, enhancing the system's ability to distinguish between individuals even under varied conditions such as different lighting or appearance changes​​. </a:t>
            </a:r>
          </a:p>
          <a:p>
            <a:r>
              <a:rPr lang="en-US" dirty="0">
                <a:latin typeface="+mj-lt"/>
              </a:rPr>
              <a:t>A CNN model specifically tailored for the accurate recognition of BTS members was developed and refined through preprocessing and augmentation strategies.</a:t>
            </a:r>
          </a:p>
          <a:p>
            <a:r>
              <a:rPr lang="en-US" dirty="0">
                <a:latin typeface="+mj-lt"/>
              </a:rPr>
              <a:t>Siamese Neural Network was implemented thereby boosting the model's performance and reliability on test datasets​​. </a:t>
            </a:r>
          </a:p>
          <a:p>
            <a:r>
              <a:rPr lang="en-US" dirty="0">
                <a:latin typeface="+mj-lt"/>
              </a:rPr>
              <a:t>The model's accuracy and reliability were evaluated, ensuring its robustness and applicability in real-world scenarios​​.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21</a:t>
            </a:fld>
            <a:endParaRPr lang="en-IN"/>
          </a:p>
        </p:txBody>
      </p:sp>
    </p:spTree>
    <p:extLst>
      <p:ext uri="{BB962C8B-B14F-4D97-AF65-F5344CB8AC3E}">
        <p14:creationId xmlns:p14="http://schemas.microsoft.com/office/powerpoint/2010/main" val="597937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b="1" dirty="0">
                <a:latin typeface="Arial Narrow" panose="020B0606020202030204" pitchFamily="34" charset="0"/>
              </a:rPr>
              <a:t>Future Enhancement</a:t>
            </a:r>
            <a:endParaRPr lang="en-IN" b="1" dirty="0">
              <a:latin typeface="Arial Narrow" panose="020B0606020202030204" pitchFamily="34" charset="0"/>
            </a:endParaRPr>
          </a:p>
        </p:txBody>
      </p:sp>
      <p:sp>
        <p:nvSpPr>
          <p:cNvPr id="3" name="Content Placeholder 2"/>
          <p:cNvSpPr>
            <a:spLocks noGrp="1"/>
          </p:cNvSpPr>
          <p:nvPr>
            <p:ph idx="1"/>
          </p:nvPr>
        </p:nvSpPr>
        <p:spPr>
          <a:xfrm>
            <a:off x="182880" y="1178560"/>
            <a:ext cx="11856720" cy="5293360"/>
          </a:xfrm>
        </p:spPr>
        <p:txBody>
          <a:bodyPr/>
          <a:lstStyle/>
          <a:p>
            <a:pPr marL="0" indent="0">
              <a:buNone/>
            </a:pPr>
            <a:endParaRPr lang="en-US" dirty="0"/>
          </a:p>
          <a:p>
            <a:r>
              <a:rPr lang="en-US" dirty="0">
                <a:latin typeface="+mj-lt"/>
              </a:rPr>
              <a:t>Enhancing the dataset to cover a wider range of conditions and expressions for improved model robustness, while also refining the system for faster, real-time authentication.</a:t>
            </a:r>
          </a:p>
          <a:p>
            <a:r>
              <a:rPr lang="en-US" dirty="0">
                <a:latin typeface="+mj-lt"/>
              </a:rPr>
              <a:t>Advancing cross-platform integration and developing stronger anti-spoofing measures to secure against fraudulent access attempts.</a:t>
            </a:r>
          </a:p>
          <a:p>
            <a:r>
              <a:rPr lang="en-US" dirty="0">
                <a:latin typeface="+mj-lt"/>
              </a:rPr>
              <a:t>Incorporating privacy safeguards and continuous learning to ensure the system respects user privacy and adapts to new data over time.</a:t>
            </a:r>
          </a:p>
          <a:p>
            <a:r>
              <a:rPr lang="en-US" dirty="0">
                <a:latin typeface="+mj-lt"/>
              </a:rPr>
              <a:t>Scaling the system for broader application and training on an internationally diverse set of faces to ensure global effectiveness.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22</a:t>
            </a:fld>
            <a:endParaRPr lang="en-IN"/>
          </a:p>
        </p:txBody>
      </p:sp>
    </p:spTree>
    <p:extLst>
      <p:ext uri="{BB962C8B-B14F-4D97-AF65-F5344CB8AC3E}">
        <p14:creationId xmlns:p14="http://schemas.microsoft.com/office/powerpoint/2010/main" val="1810526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References : APA format</a:t>
            </a:r>
            <a:endParaRPr lang="en-IN" b="1" dirty="0">
              <a:latin typeface="Arial Narrow" panose="020B0606020202030204" pitchFamily="34" charset="0"/>
            </a:endParaRPr>
          </a:p>
        </p:txBody>
      </p:sp>
      <p:sp>
        <p:nvSpPr>
          <p:cNvPr id="3" name="Content Placeholder 2"/>
          <p:cNvSpPr>
            <a:spLocks noGrp="1"/>
          </p:cNvSpPr>
          <p:nvPr>
            <p:ph idx="1"/>
          </p:nvPr>
        </p:nvSpPr>
        <p:spPr>
          <a:xfrm>
            <a:off x="579120" y="1473200"/>
            <a:ext cx="11023600" cy="4883150"/>
          </a:xfrm>
        </p:spPr>
        <p:txBody>
          <a:bodyPr>
            <a:normAutofit fontScale="62500" lnSpcReduction="20000"/>
          </a:bodyPr>
          <a:lstStyle/>
          <a:p>
            <a:pPr marL="514350" indent="-514350">
              <a:buFont typeface="+mj-lt"/>
              <a:buAutoNum type="arabicPeriod"/>
            </a:pPr>
            <a:r>
              <a:rPr lang="en-IN" b="0" i="0" dirty="0">
                <a:effectLst/>
                <a:latin typeface="Söhne"/>
              </a:rPr>
              <a:t>Kumar, C. R., N, S., </a:t>
            </a:r>
            <a:r>
              <a:rPr lang="en-IN" b="0" i="0" dirty="0" err="1">
                <a:effectLst/>
                <a:latin typeface="Söhne"/>
              </a:rPr>
              <a:t>Priyadharshini</a:t>
            </a:r>
            <a:r>
              <a:rPr lang="en-IN" b="0" i="0" dirty="0">
                <a:effectLst/>
                <a:latin typeface="Söhne"/>
              </a:rPr>
              <a:t>, M., E, D. G., &amp; M, K. R. (2023). Face recognition using CNN and Siamese network. </a:t>
            </a:r>
            <a:r>
              <a:rPr lang="en-IN" b="0" i="1" dirty="0">
                <a:effectLst/>
                <a:latin typeface="Söhne"/>
              </a:rPr>
              <a:t>Measurement: Sensors, 27</a:t>
            </a:r>
            <a:r>
              <a:rPr lang="en-IN" b="0" i="0" dirty="0">
                <a:effectLst/>
                <a:latin typeface="Söhne"/>
              </a:rPr>
              <a:t>(2023), 100800. </a:t>
            </a:r>
            <a:r>
              <a:rPr lang="en-IN" b="0" i="0" u="none" strike="noStrike" dirty="0">
                <a:effectLst/>
                <a:latin typeface="Söhne"/>
                <a:hlinkClick r:id="rId2"/>
              </a:rPr>
              <a:t>https://doi.org/10.1016/j.measen.2023.100800</a:t>
            </a:r>
            <a:endParaRPr lang="en-IN" b="0" i="0" dirty="0">
              <a:effectLst/>
              <a:latin typeface="Söhne"/>
            </a:endParaRPr>
          </a:p>
          <a:p>
            <a:pPr marL="514350" indent="-514350">
              <a:buFont typeface="+mj-lt"/>
              <a:buAutoNum type="arabicPeriod"/>
            </a:pPr>
            <a:r>
              <a:rPr lang="en-IN" b="0" i="0" dirty="0">
                <a:effectLst/>
                <a:latin typeface="Söhne"/>
              </a:rPr>
              <a:t>Solomon, E., </a:t>
            </a:r>
            <a:r>
              <a:rPr lang="en-IN" b="0" i="0" dirty="0" err="1">
                <a:effectLst/>
                <a:latin typeface="Söhne"/>
              </a:rPr>
              <a:t>Woubie</a:t>
            </a:r>
            <a:r>
              <a:rPr lang="en-IN" b="0" i="0" dirty="0">
                <a:effectLst/>
                <a:latin typeface="Söhne"/>
              </a:rPr>
              <a:t>, A., &amp; </a:t>
            </a:r>
            <a:r>
              <a:rPr lang="en-IN" b="0" i="0" dirty="0" err="1">
                <a:effectLst/>
                <a:latin typeface="Söhne"/>
              </a:rPr>
              <a:t>Emiru</a:t>
            </a:r>
            <a:r>
              <a:rPr lang="en-IN" b="0" i="0" dirty="0">
                <a:effectLst/>
                <a:latin typeface="Söhne"/>
              </a:rPr>
              <a:t>, E. S. (2024). Deep Learning Based Face Recognition Method using Siamese Network. </a:t>
            </a:r>
            <a:r>
              <a:rPr lang="en-IN" b="0" i="1" dirty="0" err="1">
                <a:effectLst/>
                <a:latin typeface="Söhne"/>
              </a:rPr>
              <a:t>arXiv</a:t>
            </a:r>
            <a:r>
              <a:rPr lang="en-IN" b="0" i="1" dirty="0">
                <a:effectLst/>
                <a:latin typeface="Söhne"/>
              </a:rPr>
              <a:t> preprint arXiv:2312.14001</a:t>
            </a:r>
            <a:r>
              <a:rPr lang="en-IN" b="0" i="0" dirty="0">
                <a:effectLst/>
                <a:latin typeface="Söhne"/>
              </a:rPr>
              <a:t>. Retrieved from </a:t>
            </a:r>
            <a:r>
              <a:rPr lang="en-IN" b="0" i="0" u="none" strike="noStrike" dirty="0">
                <a:effectLst/>
                <a:latin typeface="Söhne"/>
                <a:hlinkClick r:id="rId3"/>
              </a:rPr>
              <a:t>https://arxiv.org/abs/2312.14001</a:t>
            </a:r>
            <a:endParaRPr lang="en-IN" b="0" i="0" u="none" strike="noStrike" dirty="0">
              <a:effectLst/>
              <a:latin typeface="Söhne"/>
            </a:endParaRPr>
          </a:p>
          <a:p>
            <a:pPr marL="514350" indent="-514350">
              <a:buFont typeface="+mj-lt"/>
              <a:buAutoNum type="arabicPeriod"/>
            </a:pPr>
            <a:r>
              <a:rPr lang="en-IN" b="0" i="0" dirty="0">
                <a:effectLst/>
                <a:latin typeface="Söhne"/>
              </a:rPr>
              <a:t>Hamdani, N. D., </a:t>
            </a:r>
            <a:r>
              <a:rPr lang="en-IN" b="0" i="0" dirty="0" err="1">
                <a:effectLst/>
                <a:latin typeface="Söhne"/>
              </a:rPr>
              <a:t>Bousahba</a:t>
            </a:r>
            <a:r>
              <a:rPr lang="en-IN" b="0" i="0" dirty="0">
                <a:effectLst/>
                <a:latin typeface="Söhne"/>
              </a:rPr>
              <a:t>, N., </a:t>
            </a:r>
            <a:r>
              <a:rPr lang="en-IN" b="0" i="0" dirty="0" err="1">
                <a:effectLst/>
                <a:latin typeface="Söhne"/>
              </a:rPr>
              <a:t>Bousbai</a:t>
            </a:r>
            <a:r>
              <a:rPr lang="en-IN" b="0" i="0" dirty="0">
                <a:effectLst/>
                <a:latin typeface="Söhne"/>
              </a:rPr>
              <a:t>, A. H., &amp; </a:t>
            </a:r>
            <a:r>
              <a:rPr lang="en-IN" b="0" i="0" dirty="0" err="1">
                <a:effectLst/>
                <a:latin typeface="Söhne"/>
              </a:rPr>
              <a:t>Braikia</a:t>
            </a:r>
            <a:r>
              <a:rPr lang="en-IN" b="0" i="0" dirty="0">
                <a:effectLst/>
                <a:latin typeface="Söhne"/>
              </a:rPr>
              <a:t>, A. (2023). Face Detection and Recognition Using Siamese Neural Network. </a:t>
            </a:r>
            <a:r>
              <a:rPr lang="en-IN" b="0" i="1" dirty="0">
                <a:effectLst/>
                <a:latin typeface="Söhne"/>
              </a:rPr>
              <a:t>International Journal of Computing and Digital Systems</a:t>
            </a:r>
            <a:r>
              <a:rPr lang="en-IN" b="0" i="0" dirty="0">
                <a:effectLst/>
                <a:latin typeface="Söhne"/>
              </a:rPr>
              <a:t>, 14(1), 889-897. </a:t>
            </a:r>
            <a:r>
              <a:rPr lang="en-IN" b="0" i="0" u="none" strike="noStrike" dirty="0">
                <a:effectLst/>
                <a:latin typeface="Söhne"/>
                <a:hlinkClick r:id="rId4"/>
              </a:rPr>
              <a:t>http://dx.doi.org/10.12785/ijcds/140169</a:t>
            </a:r>
            <a:endParaRPr lang="en-IN" b="0" i="0" u="none" strike="noStrike" dirty="0">
              <a:effectLst/>
              <a:latin typeface="Söhne"/>
            </a:endParaRPr>
          </a:p>
          <a:p>
            <a:pPr marL="514350" indent="-514350">
              <a:buFont typeface="+mj-lt"/>
              <a:buAutoNum type="arabicPeriod"/>
            </a:pPr>
            <a:r>
              <a:rPr lang="en-IN" b="0" i="0" dirty="0">
                <a:effectLst/>
                <a:latin typeface="Söhne"/>
              </a:rPr>
              <a:t>Yu, H. Q. (2024). Attention Enhanced Siamese Neural Network for Face Validation. </a:t>
            </a:r>
            <a:r>
              <a:rPr lang="en-IN" b="0" i="1" dirty="0">
                <a:effectLst/>
                <a:latin typeface="Söhne"/>
              </a:rPr>
              <a:t>Artificial Intelligence and Applications</a:t>
            </a:r>
            <a:r>
              <a:rPr lang="en-IN" b="0" i="0" dirty="0">
                <a:effectLst/>
                <a:latin typeface="Söhne"/>
              </a:rPr>
              <a:t>, 2(1), 21–27. </a:t>
            </a:r>
            <a:r>
              <a:rPr lang="en-IN" b="0" i="0" u="none" strike="noStrike" dirty="0">
                <a:effectLst/>
                <a:latin typeface="Söhne"/>
                <a:hlinkClick r:id="rId5"/>
              </a:rPr>
              <a:t>https://doi.org/10.47852/bonviewAIA32021018</a:t>
            </a:r>
            <a:endParaRPr lang="en-IN" b="0" i="0" u="none" strike="noStrike" dirty="0">
              <a:effectLst/>
              <a:latin typeface="Söhne"/>
            </a:endParaRPr>
          </a:p>
          <a:p>
            <a:pPr marL="514350" indent="-514350">
              <a:buFont typeface="+mj-lt"/>
              <a:buAutoNum type="arabicPeriod"/>
            </a:pPr>
            <a:r>
              <a:rPr lang="en-US" b="0" i="0" dirty="0" err="1">
                <a:effectLst/>
                <a:latin typeface="Söhne"/>
              </a:rPr>
              <a:t>Navghare</a:t>
            </a:r>
            <a:r>
              <a:rPr lang="en-US" b="0" i="0" dirty="0">
                <a:effectLst/>
                <a:latin typeface="Söhne"/>
              </a:rPr>
              <a:t>, T., Muley, A., &amp; Jadhav, V. (2024). Siamese Neural Networks for Kinship Prediction: A Deep Convolutional Neural Network Approach. </a:t>
            </a:r>
            <a:r>
              <a:rPr lang="en-US" b="0" i="1" dirty="0">
                <a:effectLst/>
                <a:latin typeface="Söhne"/>
              </a:rPr>
              <a:t>Indian Journal of Science and Technology</a:t>
            </a:r>
            <a:r>
              <a:rPr lang="en-US" b="0" i="0" dirty="0">
                <a:effectLst/>
                <a:latin typeface="Söhne"/>
              </a:rPr>
              <a:t>, 17(4), 352-358. </a:t>
            </a:r>
            <a:r>
              <a:rPr lang="en-US" b="0" i="0" u="none" strike="noStrike" dirty="0">
                <a:effectLst/>
                <a:latin typeface="Söhne"/>
                <a:hlinkClick r:id="rId6"/>
              </a:rPr>
              <a:t>https://doi.org/10.17485/IJST/v17i4.3018</a:t>
            </a:r>
            <a:endParaRPr lang="en-US" b="0" i="0" u="none" strike="noStrike" dirty="0">
              <a:effectLst/>
              <a:latin typeface="Söhne"/>
            </a:endParaRPr>
          </a:p>
          <a:p>
            <a:pPr marL="514350" indent="-514350">
              <a:buFont typeface="+mj-lt"/>
              <a:buAutoNum type="arabicPeriod"/>
            </a:pPr>
            <a:r>
              <a:rPr lang="en-IN" b="0" i="0" dirty="0">
                <a:effectLst/>
                <a:latin typeface="Söhne"/>
              </a:rPr>
              <a:t>Menendez, E., Martínez, S., Díaz-de-María, F., &amp; Balaguer, C. (2024). Integrating Egocentric and Robotic Vision for Object Identification Using Siamese Networks and </a:t>
            </a:r>
            <a:r>
              <a:rPr lang="en-IN" b="0" i="0" dirty="0" err="1">
                <a:effectLst/>
                <a:latin typeface="Söhne"/>
              </a:rPr>
              <a:t>Superquadric</a:t>
            </a:r>
            <a:r>
              <a:rPr lang="en-IN" b="0" i="0" dirty="0">
                <a:effectLst/>
                <a:latin typeface="Söhne"/>
              </a:rPr>
              <a:t> Estimations in Partial Occlusion Scenarios. </a:t>
            </a:r>
            <a:r>
              <a:rPr lang="en-IN" b="0" i="1" dirty="0">
                <a:effectLst/>
                <a:latin typeface="Söhne"/>
              </a:rPr>
              <a:t>Biomimetics</a:t>
            </a:r>
            <a:r>
              <a:rPr lang="en-IN" b="0" i="0" dirty="0">
                <a:effectLst/>
                <a:latin typeface="Söhne"/>
              </a:rPr>
              <a:t>, 9(100), 1-21. </a:t>
            </a:r>
            <a:r>
              <a:rPr lang="en-IN" b="0" i="0" u="none" strike="noStrike" dirty="0">
                <a:effectLst/>
                <a:latin typeface="Söhne"/>
                <a:hlinkClick r:id="rId7"/>
              </a:rPr>
              <a:t>https://doi.org/10.3390/biomimetics9020100</a:t>
            </a:r>
            <a:endParaRPr lang="en-US" b="0" i="0" u="none" strike="noStrike" dirty="0">
              <a:effectLst/>
              <a:latin typeface="Söhne"/>
            </a:endParaRPr>
          </a:p>
          <a:p>
            <a:pPr marL="514350" indent="-514350">
              <a:buFont typeface="+mj-lt"/>
              <a:buAutoNum type="arabicPeriod"/>
            </a:pPr>
            <a:r>
              <a:rPr lang="en-IN" b="0" i="0" dirty="0" err="1">
                <a:effectLst/>
                <a:latin typeface="Söhne"/>
              </a:rPr>
              <a:t>Hajamohideen</a:t>
            </a:r>
            <a:r>
              <a:rPr lang="en-IN" b="0" i="0" dirty="0">
                <a:effectLst/>
                <a:latin typeface="Söhne"/>
              </a:rPr>
              <a:t>, F., </a:t>
            </a:r>
            <a:r>
              <a:rPr lang="en-IN" b="0" i="0" dirty="0" err="1">
                <a:effectLst/>
                <a:latin typeface="Söhne"/>
              </a:rPr>
              <a:t>Shaffi</a:t>
            </a:r>
            <a:r>
              <a:rPr lang="en-IN" b="0" i="0" dirty="0">
                <a:effectLst/>
                <a:latin typeface="Söhne"/>
              </a:rPr>
              <a:t>, N., Mahmud, M., Subramanian, K., Al </a:t>
            </a:r>
            <a:r>
              <a:rPr lang="en-IN" b="0" i="0" dirty="0" err="1">
                <a:effectLst/>
                <a:latin typeface="Söhne"/>
              </a:rPr>
              <a:t>Sariri</a:t>
            </a:r>
            <a:r>
              <a:rPr lang="en-IN" b="0" i="0" dirty="0">
                <a:effectLst/>
                <a:latin typeface="Söhne"/>
              </a:rPr>
              <a:t>, A., </a:t>
            </a:r>
            <a:r>
              <a:rPr lang="en-IN" b="0" i="0" dirty="0" err="1">
                <a:effectLst/>
                <a:latin typeface="Söhne"/>
              </a:rPr>
              <a:t>Vimbi</a:t>
            </a:r>
            <a:r>
              <a:rPr lang="en-IN" b="0" i="0" dirty="0">
                <a:effectLst/>
                <a:latin typeface="Söhne"/>
              </a:rPr>
              <a:t>, V., ... &amp; for the Alzheimer’s Disease Neuroimaging Initiative. (2023). Four-way classification of Alzheimer’s disease using deep Siamese convolutional neural network with triplet-loss function. Brain Informatics, 10(5). </a:t>
            </a:r>
            <a:r>
              <a:rPr lang="en-IN" b="0" i="0" u="none" strike="noStrike" dirty="0">
                <a:effectLst/>
                <a:latin typeface="Söhne"/>
                <a:hlinkClick r:id="rId8"/>
              </a:rPr>
              <a:t>https://doi.org/10.1186/s40708-023-00184-w</a:t>
            </a:r>
            <a:endParaRPr lang="en-IN" b="0" i="0" u="none" strike="noStrike" dirty="0">
              <a:effectLst/>
              <a:latin typeface="Söhne"/>
            </a:endParaRPr>
          </a:p>
          <a:p>
            <a:pPr marL="0" indent="0">
              <a:buNone/>
            </a:pPr>
            <a:endParaRPr lang="en-IN" dirty="0"/>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23</a:t>
            </a:fld>
            <a:endParaRPr lang="en-IN"/>
          </a:p>
        </p:txBody>
      </p:sp>
    </p:spTree>
    <p:extLst>
      <p:ext uri="{BB962C8B-B14F-4D97-AF65-F5344CB8AC3E}">
        <p14:creationId xmlns:p14="http://schemas.microsoft.com/office/powerpoint/2010/main" val="4144063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650</TotalTime>
  <Words>3004</Words>
  <Application>Microsoft Office PowerPoint</Application>
  <PresentationFormat>Widescreen</PresentationFormat>
  <Paragraphs>211</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 Narrow</vt:lpstr>
      <vt:lpstr>Calibri</vt:lpstr>
      <vt:lpstr>Calibri Light</vt:lpstr>
      <vt:lpstr>Söhne</vt:lpstr>
      <vt:lpstr>Symbol</vt:lpstr>
      <vt:lpstr>Wingdings</vt:lpstr>
      <vt:lpstr>Office Theme</vt:lpstr>
      <vt:lpstr>Project Title : Implementing Deep Learning Models for Face Recognition  Domain: Pattern Recognition and Neural Networks  </vt:lpstr>
      <vt:lpstr>Abstract</vt:lpstr>
      <vt:lpstr>Introduction</vt:lpstr>
      <vt:lpstr>Need of study</vt:lpstr>
      <vt:lpstr>Problem Statement</vt:lpstr>
      <vt:lpstr>Objectives</vt:lpstr>
      <vt:lpstr>Related Work</vt:lpstr>
      <vt:lpstr>Proposed Methodology</vt:lpstr>
      <vt:lpstr>Proposed Methodology</vt:lpstr>
      <vt:lpstr>Proposed Methodology</vt:lpstr>
      <vt:lpstr>Dataset</vt:lpstr>
      <vt:lpstr>Exploratory Data Analysis </vt:lpstr>
      <vt:lpstr>Exploratory Data Analysis </vt:lpstr>
      <vt:lpstr>Exploratory Data Analysis </vt:lpstr>
      <vt:lpstr>Results and Discussion</vt:lpstr>
      <vt:lpstr>Results and Discussion</vt:lpstr>
      <vt:lpstr>Results and Discussion</vt:lpstr>
      <vt:lpstr>Results and Discussion</vt:lpstr>
      <vt:lpstr>Results and Discussion</vt:lpstr>
      <vt:lpstr>Results and Discussion</vt:lpstr>
      <vt:lpstr>Conclusion</vt:lpstr>
      <vt:lpstr>Future Enhancement</vt:lpstr>
      <vt:lpstr>References : APA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Dharshani A</cp:lastModifiedBy>
  <cp:revision>24</cp:revision>
  <dcterms:created xsi:type="dcterms:W3CDTF">2023-11-15T14:09:37Z</dcterms:created>
  <dcterms:modified xsi:type="dcterms:W3CDTF">2024-03-15T07:30:53Z</dcterms:modified>
</cp:coreProperties>
</file>